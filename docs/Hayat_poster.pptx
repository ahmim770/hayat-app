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30594300" cy="51117500"/>
  <p:notesSz cx="6858000" cy="9144000"/>
  <p:embeddedFontLst>
    <p:embeddedFont>
      <p:font typeface="Calibri (MS)" panose="020B0604020202020204" charset="0"/>
      <p:regular r:id="rId3"/>
    </p:embeddedFont>
    <p:embeddedFont>
      <p:font typeface="Calibri (MS) Bold" panose="020B0604020202020204" charset="0"/>
      <p:regular r:id="rId4"/>
    </p:embeddedFont>
    <p:embeddedFont>
      <p:font typeface="Garet" panose="020B0604020202020204" charset="0"/>
      <p:regular r:id="rId5"/>
    </p:embeddedFont>
    <p:embeddedFont>
      <p:font typeface="ITC Motter Corpus Regular" panose="020B0604020202020204" charset="0"/>
      <p:regular r:id="rId6"/>
    </p:embeddedFont>
    <p:embeddedFont>
      <p:font typeface="Montserrat Bold" panose="020B0604020202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40" d="100"/>
          <a:sy n="40" d="100"/>
        </p:scale>
        <p:origin x="-222" y="6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ableStyles" Target="tableStyles.xml"/><Relationship Id="rId5" Type="http://schemas.openxmlformats.org/officeDocument/2006/relationships/font" Target="fonts/font3.fntdata"/><Relationship Id="rId10" Type="http://schemas.openxmlformats.org/officeDocument/2006/relationships/theme" Target="theme/theme1.xml"/><Relationship Id="rId4" Type="http://schemas.openxmlformats.org/officeDocument/2006/relationships/font" Target="fonts/font2.fntdata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51213" y="-196850"/>
            <a:ext cx="21795394" cy="5104282"/>
          </a:xfrm>
          <a:custGeom>
            <a:avLst/>
            <a:gdLst/>
            <a:ahLst/>
            <a:cxnLst/>
            <a:rect l="l" t="t" r="r" b="b"/>
            <a:pathLst>
              <a:path w="21795394" h="5104282">
                <a:moveTo>
                  <a:pt x="0" y="0"/>
                </a:moveTo>
                <a:lnTo>
                  <a:pt x="21795394" y="0"/>
                </a:lnTo>
                <a:lnTo>
                  <a:pt x="21795394" y="5104282"/>
                </a:lnTo>
                <a:lnTo>
                  <a:pt x="0" y="51042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871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20102390" y="2827370"/>
            <a:ext cx="2770938" cy="145162"/>
            <a:chOff x="0" y="0"/>
            <a:chExt cx="3636378" cy="190500"/>
          </a:xfrm>
        </p:grpSpPr>
        <p:sp>
          <p:nvSpPr>
            <p:cNvPr id="4" name="Freeform 4"/>
            <p:cNvSpPr/>
            <p:nvPr/>
          </p:nvSpPr>
          <p:spPr>
            <a:xfrm>
              <a:off x="95250" y="0"/>
              <a:ext cx="3445891" cy="190500"/>
            </a:xfrm>
            <a:custGeom>
              <a:avLst/>
              <a:gdLst/>
              <a:ahLst/>
              <a:cxnLst/>
              <a:rect l="l" t="t" r="r" b="b"/>
              <a:pathLst>
                <a:path w="3445891" h="190500">
                  <a:moveTo>
                    <a:pt x="0" y="0"/>
                  </a:moveTo>
                  <a:lnTo>
                    <a:pt x="3445891" y="0"/>
                  </a:lnTo>
                  <a:lnTo>
                    <a:pt x="3445891" y="19050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1016159" y="2527390"/>
            <a:ext cx="8534616" cy="1080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52"/>
              </a:lnSpc>
            </a:pPr>
            <a:r>
              <a:rPr lang="en-US" sz="8404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Hayat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9279421" y="434459"/>
            <a:ext cx="6373316" cy="1907360"/>
            <a:chOff x="0" y="0"/>
            <a:chExt cx="8363877" cy="250308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363839" cy="2503043"/>
            </a:xfrm>
            <a:custGeom>
              <a:avLst/>
              <a:gdLst/>
              <a:ahLst/>
              <a:cxnLst/>
              <a:rect l="l" t="t" r="r" b="b"/>
              <a:pathLst>
                <a:path w="8363839" h="2503043">
                  <a:moveTo>
                    <a:pt x="0" y="0"/>
                  </a:moveTo>
                  <a:lnTo>
                    <a:pt x="8363839" y="0"/>
                  </a:lnTo>
                  <a:lnTo>
                    <a:pt x="8363839" y="2503043"/>
                  </a:lnTo>
                  <a:lnTo>
                    <a:pt x="0" y="2503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3957" b="-2395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4982855" y="751009"/>
            <a:ext cx="8245218" cy="1274261"/>
          </a:xfrm>
          <a:custGeom>
            <a:avLst/>
            <a:gdLst/>
            <a:ahLst/>
            <a:cxnLst/>
            <a:rect l="l" t="t" r="r" b="b"/>
            <a:pathLst>
              <a:path w="8245218" h="1274261">
                <a:moveTo>
                  <a:pt x="0" y="0"/>
                </a:moveTo>
                <a:lnTo>
                  <a:pt x="8245219" y="0"/>
                </a:lnTo>
                <a:lnTo>
                  <a:pt x="8245219" y="1274261"/>
                </a:lnTo>
                <a:lnTo>
                  <a:pt x="0" y="12742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445" b="-44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7691016" y="2899951"/>
            <a:ext cx="2770938" cy="145162"/>
            <a:chOff x="0" y="0"/>
            <a:chExt cx="3636378" cy="190500"/>
          </a:xfrm>
        </p:grpSpPr>
        <p:sp>
          <p:nvSpPr>
            <p:cNvPr id="10" name="Freeform 10"/>
            <p:cNvSpPr/>
            <p:nvPr/>
          </p:nvSpPr>
          <p:spPr>
            <a:xfrm>
              <a:off x="95250" y="0"/>
              <a:ext cx="3445891" cy="190500"/>
            </a:xfrm>
            <a:custGeom>
              <a:avLst/>
              <a:gdLst/>
              <a:ahLst/>
              <a:cxnLst/>
              <a:rect l="l" t="t" r="r" b="b"/>
              <a:pathLst>
                <a:path w="3445891" h="190500">
                  <a:moveTo>
                    <a:pt x="0" y="0"/>
                  </a:moveTo>
                  <a:lnTo>
                    <a:pt x="3445891" y="0"/>
                  </a:lnTo>
                  <a:lnTo>
                    <a:pt x="3445891" y="19050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4536656" y="12541625"/>
            <a:ext cx="11108329" cy="10520296"/>
            <a:chOff x="0" y="0"/>
            <a:chExt cx="1385242" cy="131191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85242" cy="1311913"/>
            </a:xfrm>
            <a:custGeom>
              <a:avLst/>
              <a:gdLst/>
              <a:ahLst/>
              <a:cxnLst/>
              <a:rect l="l" t="t" r="r" b="b"/>
              <a:pathLst>
                <a:path w="1385242" h="1311913">
                  <a:moveTo>
                    <a:pt x="0" y="0"/>
                  </a:moveTo>
                  <a:lnTo>
                    <a:pt x="1385242" y="0"/>
                  </a:lnTo>
                  <a:lnTo>
                    <a:pt x="1385242" y="1311913"/>
                  </a:lnTo>
                  <a:lnTo>
                    <a:pt x="0" y="1311913"/>
                  </a:lnTo>
                  <a:close/>
                </a:path>
              </a:pathLst>
            </a:custGeom>
            <a:ln w="27051" cap="sq">
              <a:solidFill>
                <a:srgbClr val="0C90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52400"/>
              <a:ext cx="1385242" cy="14643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431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982855" y="5248692"/>
            <a:ext cx="20669882" cy="6799716"/>
            <a:chOff x="0" y="0"/>
            <a:chExt cx="2577596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577596" cy="812800"/>
            </a:xfrm>
            <a:custGeom>
              <a:avLst/>
              <a:gdLst/>
              <a:ahLst/>
              <a:cxnLst/>
              <a:rect l="l" t="t" r="r" b="b"/>
              <a:pathLst>
                <a:path w="2577596" h="812800">
                  <a:moveTo>
                    <a:pt x="0" y="0"/>
                  </a:moveTo>
                  <a:lnTo>
                    <a:pt x="2577596" y="0"/>
                  </a:lnTo>
                  <a:lnTo>
                    <a:pt x="2577596" y="812800"/>
                  </a:lnTo>
                  <a:lnTo>
                    <a:pt x="0" y="812800"/>
                  </a:lnTo>
                  <a:close/>
                </a:path>
              </a:pathLst>
            </a:custGeom>
            <a:ln w="27051" cap="sq">
              <a:solidFill>
                <a:srgbClr val="0C90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52400"/>
              <a:ext cx="2577596" cy="96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431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5633960" y="6266412"/>
            <a:ext cx="19208469" cy="45949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458"/>
              </a:lnSpc>
            </a:pPr>
            <a:r>
              <a:rPr lang="en-US" sz="3184" dirty="0">
                <a:solidFill>
                  <a:srgbClr val="15426E"/>
                </a:solidFill>
                <a:latin typeface="Garet"/>
                <a:sym typeface="Garet"/>
              </a:rPr>
              <a:t>Hayat is a unified mobile healthcare platform that integrates hospitals, practitioners, and medical services into a single digital ecosystem. By centralizing access to care, it streamlines the patient journey from hospital discovery to health management. The platform’s core innovation, </a:t>
            </a:r>
            <a:r>
              <a:rPr lang="en-US" sz="3184" dirty="0" err="1">
                <a:solidFill>
                  <a:srgbClr val="15426E"/>
                </a:solidFill>
                <a:latin typeface="Garet"/>
                <a:sym typeface="Garet"/>
              </a:rPr>
              <a:t>Morafiq</a:t>
            </a:r>
            <a:r>
              <a:rPr lang="en-US" sz="3184" dirty="0">
                <a:solidFill>
                  <a:srgbClr val="15426E"/>
                </a:solidFill>
                <a:latin typeface="Garet"/>
                <a:sym typeface="Garet"/>
              </a:rPr>
              <a:t>, is an AI-driven assistant that utilizes intelligent symptom analysis to triage patients toward the most appropriate medical specialties. Ultimately, Hayat enhances healthcare accessibility and efficiency through smart, user-centric technology, aligning with the objectives of digital transformation in health informatics.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0496055" y="3457023"/>
            <a:ext cx="7256431" cy="2386294"/>
            <a:chOff x="-1211412" y="-1629468"/>
            <a:chExt cx="9675241" cy="3181729"/>
          </a:xfrm>
        </p:grpSpPr>
        <p:grpSp>
          <p:nvGrpSpPr>
            <p:cNvPr id="23" name="Group 23"/>
            <p:cNvGrpSpPr/>
            <p:nvPr/>
          </p:nvGrpSpPr>
          <p:grpSpPr>
            <a:xfrm>
              <a:off x="-278133" y="-1629468"/>
              <a:ext cx="8091749" cy="3181729"/>
              <a:chOff x="-26013" y="-152400"/>
              <a:chExt cx="756799" cy="297579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-26013" y="38196"/>
                <a:ext cx="730786" cy="95282"/>
              </a:xfrm>
              <a:custGeom>
                <a:avLst/>
                <a:gdLst/>
                <a:ahLst/>
                <a:cxnLst/>
                <a:rect l="l" t="t" r="r" b="b"/>
                <a:pathLst>
                  <a:path w="730786" h="145179">
                    <a:moveTo>
                      <a:pt x="0" y="0"/>
                    </a:moveTo>
                    <a:lnTo>
                      <a:pt x="730786" y="0"/>
                    </a:lnTo>
                    <a:lnTo>
                      <a:pt x="730786" y="145179"/>
                    </a:lnTo>
                    <a:lnTo>
                      <a:pt x="0" y="14517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152400"/>
                <a:ext cx="730786" cy="29757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7431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-1211412" y="-268382"/>
              <a:ext cx="9675241" cy="15321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0466"/>
                </a:lnSpc>
              </a:pPr>
              <a:r>
                <a:rPr lang="en-US" sz="5307" dirty="0">
                  <a:solidFill>
                    <a:srgbClr val="11426F"/>
                  </a:solidFill>
                  <a:latin typeface="ITC Motter Corpus Regular"/>
                  <a:sym typeface="ITC Motter Corpus Regular"/>
                </a:rPr>
                <a:t>Introduction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982855" y="12609724"/>
            <a:ext cx="9225671" cy="10452198"/>
            <a:chOff x="0" y="0"/>
            <a:chExt cx="1150469" cy="130342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150469" cy="1303421"/>
            </a:xfrm>
            <a:custGeom>
              <a:avLst/>
              <a:gdLst/>
              <a:ahLst/>
              <a:cxnLst/>
              <a:rect l="l" t="t" r="r" b="b"/>
              <a:pathLst>
                <a:path w="1150469" h="1303421">
                  <a:moveTo>
                    <a:pt x="0" y="0"/>
                  </a:moveTo>
                  <a:lnTo>
                    <a:pt x="1150469" y="0"/>
                  </a:lnTo>
                  <a:lnTo>
                    <a:pt x="1150469" y="1303421"/>
                  </a:lnTo>
                  <a:lnTo>
                    <a:pt x="0" y="1303421"/>
                  </a:lnTo>
                  <a:close/>
                </a:path>
              </a:pathLst>
            </a:custGeom>
            <a:ln w="27051" cap="sq">
              <a:solidFill>
                <a:srgbClr val="0C90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52400"/>
              <a:ext cx="1150469" cy="1455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431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5304698" y="13634985"/>
            <a:ext cx="8421130" cy="7480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8"/>
              </a:lnSpc>
            </a:pPr>
            <a:r>
              <a:rPr lang="en-US" sz="3184" dirty="0">
                <a:solidFill>
                  <a:srgbClr val="15426E"/>
                </a:solidFill>
                <a:latin typeface="Garet"/>
                <a:ea typeface="Garet"/>
                <a:cs typeface="Garet"/>
                <a:sym typeface="Garet"/>
              </a:rPr>
              <a:t>Hayat’s main objectives are to:</a:t>
            </a:r>
          </a:p>
          <a:p>
            <a:pPr algn="l">
              <a:lnSpc>
                <a:spcPts val="4458"/>
              </a:lnSpc>
            </a:pPr>
            <a:endParaRPr lang="en-US" sz="3184" dirty="0">
              <a:solidFill>
                <a:srgbClr val="15426E"/>
              </a:solidFill>
              <a:latin typeface="Garet"/>
              <a:ea typeface="Garet"/>
              <a:cs typeface="Garet"/>
              <a:sym typeface="Garet"/>
            </a:endParaRPr>
          </a:p>
          <a:p>
            <a:pPr marL="514350" indent="-514350" algn="l">
              <a:lnSpc>
                <a:spcPts val="4458"/>
              </a:lnSpc>
              <a:buAutoNum type="arabicPeriod"/>
            </a:pPr>
            <a:r>
              <a:rPr lang="en-US" sz="3184" dirty="0">
                <a:solidFill>
                  <a:srgbClr val="15426E"/>
                </a:solidFill>
                <a:latin typeface="Garet"/>
                <a:ea typeface="Garet"/>
                <a:cs typeface="Garet"/>
                <a:sym typeface="Garet"/>
              </a:rPr>
              <a:t>Provide a unified mobile app that connects hospitals across Riyadh.</a:t>
            </a:r>
          </a:p>
          <a:p>
            <a:pPr marL="514350" indent="-514350" algn="l">
              <a:lnSpc>
                <a:spcPts val="4458"/>
              </a:lnSpc>
              <a:buAutoNum type="arabicPeriod"/>
            </a:pPr>
            <a:r>
              <a:rPr lang="en-US" sz="3184" dirty="0">
                <a:solidFill>
                  <a:srgbClr val="15426E"/>
                </a:solidFill>
                <a:latin typeface="Garet"/>
                <a:ea typeface="Garet"/>
                <a:cs typeface="Garet"/>
                <a:sym typeface="Garet"/>
              </a:rPr>
              <a:t>Allow users to easily search for hospitals, book appointments, and view doctors</a:t>
            </a:r>
          </a:p>
          <a:p>
            <a:pPr marL="514350" indent="-514350" algn="l">
              <a:lnSpc>
                <a:spcPts val="4458"/>
              </a:lnSpc>
              <a:buAutoNum type="arabicPeriod"/>
            </a:pPr>
            <a:r>
              <a:rPr lang="en-US" sz="3184" dirty="0">
                <a:solidFill>
                  <a:srgbClr val="15426E"/>
                </a:solidFill>
                <a:latin typeface="Garet"/>
                <a:ea typeface="Garet"/>
                <a:cs typeface="Garet"/>
                <a:sym typeface="Garet"/>
              </a:rPr>
              <a:t>Implement an AI-based assistant (</a:t>
            </a:r>
            <a:r>
              <a:rPr lang="en-US" sz="3184" dirty="0" err="1">
                <a:solidFill>
                  <a:srgbClr val="15426E"/>
                </a:solidFill>
                <a:latin typeface="Garet"/>
                <a:ea typeface="Garet"/>
                <a:cs typeface="Garet"/>
                <a:sym typeface="Garet"/>
              </a:rPr>
              <a:t>Morafiq</a:t>
            </a:r>
            <a:r>
              <a:rPr lang="en-US" sz="3184" dirty="0">
                <a:solidFill>
                  <a:srgbClr val="15426E"/>
                </a:solidFill>
                <a:latin typeface="Garet"/>
                <a:ea typeface="Garet"/>
                <a:cs typeface="Garet"/>
                <a:sym typeface="Garet"/>
              </a:rPr>
              <a:t>) that analyzes and recommends the most suitable doctor</a:t>
            </a:r>
          </a:p>
          <a:p>
            <a:pPr marL="514350" indent="-514350" algn="l">
              <a:lnSpc>
                <a:spcPts val="4458"/>
              </a:lnSpc>
              <a:buAutoNum type="arabicPeriod"/>
            </a:pPr>
            <a:r>
              <a:rPr lang="en-US" sz="3184" dirty="0">
                <a:solidFill>
                  <a:srgbClr val="15426E"/>
                </a:solidFill>
                <a:latin typeface="Garet"/>
                <a:ea typeface="Garet"/>
                <a:cs typeface="Garet"/>
                <a:sym typeface="Garet"/>
              </a:rPr>
              <a:t>Integrate healthcare services such as prescriptions and allergy tracking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076527" y="13594520"/>
            <a:ext cx="10084793" cy="8634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58"/>
              </a:lnSpc>
            </a:pPr>
            <a:r>
              <a:rPr lang="en-US" sz="3184" dirty="0">
                <a:solidFill>
                  <a:srgbClr val="15426E"/>
                </a:solidFill>
                <a:latin typeface="Garet"/>
                <a:ea typeface="Garet"/>
                <a:cs typeface="Garet"/>
                <a:sym typeface="Garet"/>
              </a:rPr>
              <a:t>The implementation phase followed an Agile-incremental framework, facilitating continuous development and iterative refinement. The system architecture was decomposed into distinct functional modules, each developed within specific sprints to ensure feature-complete delivery. To maintain technical integrity, Git-based version control was utilized for source code management and collaborative tracking. The implementation strategy prioritized three core pillars: UI/UX usability, secure data encapsulation, and architectural scalability, ensuring the system meets high-performance benchmarks in a healthcare context.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8809313" y="32018537"/>
            <a:ext cx="3222702" cy="359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2393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Figure 2.</a:t>
            </a:r>
            <a:r>
              <a:rPr lang="en-US" sz="2393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N8n Workflow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679233" y="3685629"/>
            <a:ext cx="19208469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7"/>
              </a:lnSpc>
            </a:pPr>
            <a:r>
              <a:rPr lang="en-US" sz="24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Authors: Ahmed Almuhanna, Adam </a:t>
            </a:r>
            <a:r>
              <a:rPr lang="en-US" sz="2400" dirty="0" err="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Aljuwayed</a:t>
            </a:r>
            <a:r>
              <a:rPr lang="en-US" sz="24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, Abdulaziz Alabdullatif, Nawaf </a:t>
            </a:r>
            <a:r>
              <a:rPr lang="en-US" sz="2400" dirty="0" err="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Aljarrah</a:t>
            </a:r>
            <a:endParaRPr lang="en-US" sz="2400" dirty="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2987"/>
              </a:lnSpc>
            </a:pPr>
            <a:endParaRPr lang="en-US" sz="2400" dirty="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5679233" y="4192292"/>
            <a:ext cx="19208469" cy="856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4"/>
              </a:lnSpc>
            </a:pPr>
            <a:r>
              <a:rPr lang="en-US" sz="2438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Advisor: Dr. </a:t>
            </a:r>
            <a:r>
              <a:rPr lang="en-US" sz="2438" dirty="0" err="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Omaia</a:t>
            </a:r>
            <a:r>
              <a:rPr lang="en-US" sz="2438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Al-Omari</a:t>
            </a:r>
          </a:p>
          <a:p>
            <a:pPr algn="ctr">
              <a:lnSpc>
                <a:spcPts val="3414"/>
              </a:lnSpc>
            </a:pPr>
            <a:endParaRPr lang="en-US" sz="2438" dirty="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grpSp>
        <p:nvGrpSpPr>
          <p:cNvPr id="35" name="Group 35"/>
          <p:cNvGrpSpPr/>
          <p:nvPr/>
        </p:nvGrpSpPr>
        <p:grpSpPr>
          <a:xfrm>
            <a:off x="6072912" y="11875415"/>
            <a:ext cx="6802765" cy="1332420"/>
            <a:chOff x="0" y="-224301"/>
            <a:chExt cx="9070353" cy="1776562"/>
          </a:xfrm>
        </p:grpSpPr>
        <p:grpSp>
          <p:nvGrpSpPr>
            <p:cNvPr id="36" name="Group 36"/>
            <p:cNvGrpSpPr/>
            <p:nvPr/>
          </p:nvGrpSpPr>
          <p:grpSpPr>
            <a:xfrm>
              <a:off x="0" y="0"/>
              <a:ext cx="7813616" cy="1552261"/>
              <a:chOff x="0" y="0"/>
              <a:chExt cx="730786" cy="145179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730786" cy="145179"/>
              </a:xfrm>
              <a:custGeom>
                <a:avLst/>
                <a:gdLst/>
                <a:ahLst/>
                <a:cxnLst/>
                <a:rect l="l" t="t" r="r" b="b"/>
                <a:pathLst>
                  <a:path w="730786" h="145179">
                    <a:moveTo>
                      <a:pt x="0" y="0"/>
                    </a:moveTo>
                    <a:lnTo>
                      <a:pt x="730786" y="0"/>
                    </a:lnTo>
                    <a:lnTo>
                      <a:pt x="730786" y="145179"/>
                    </a:lnTo>
                    <a:lnTo>
                      <a:pt x="0" y="14517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152400"/>
                <a:ext cx="730786" cy="29757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7431"/>
                  </a:lnSpc>
                </a:pPr>
                <a:endParaRPr/>
              </a:p>
            </p:txBody>
          </p:sp>
        </p:grpSp>
        <p:sp>
          <p:nvSpPr>
            <p:cNvPr id="39" name="TextBox 39"/>
            <p:cNvSpPr txBox="1"/>
            <p:nvPr/>
          </p:nvSpPr>
          <p:spPr>
            <a:xfrm>
              <a:off x="129553" y="-224301"/>
              <a:ext cx="8940800" cy="15321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0466"/>
                </a:lnSpc>
              </a:pPr>
              <a:r>
                <a:rPr lang="en-US" sz="5307" dirty="0">
                  <a:solidFill>
                    <a:srgbClr val="11426F"/>
                  </a:solidFill>
                  <a:latin typeface="ITC Motter Corpus Regular"/>
                  <a:sym typeface="ITC Motter Corpus Regular"/>
                </a:rPr>
                <a:t>Objective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7372177" y="12237768"/>
            <a:ext cx="6096973" cy="984022"/>
            <a:chOff x="0" y="0"/>
            <a:chExt cx="760311" cy="12271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760311" cy="122711"/>
            </a:xfrm>
            <a:custGeom>
              <a:avLst/>
              <a:gdLst/>
              <a:ahLst/>
              <a:cxnLst/>
              <a:rect l="l" t="t" r="r" b="b"/>
              <a:pathLst>
                <a:path w="760311" h="122711">
                  <a:moveTo>
                    <a:pt x="0" y="0"/>
                  </a:moveTo>
                  <a:lnTo>
                    <a:pt x="760311" y="0"/>
                  </a:lnTo>
                  <a:lnTo>
                    <a:pt x="760311" y="122711"/>
                  </a:lnTo>
                  <a:lnTo>
                    <a:pt x="0" y="1227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152400"/>
              <a:ext cx="760311" cy="2751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431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7563517" y="12191150"/>
            <a:ext cx="5714294" cy="95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31"/>
              </a:lnSpc>
            </a:pPr>
            <a:r>
              <a:rPr lang="en-US" sz="5307" dirty="0">
                <a:solidFill>
                  <a:srgbClr val="11426F"/>
                </a:solidFill>
                <a:latin typeface="ITC Motter Corpus Regular"/>
                <a:ea typeface="ITC Motter Corpus Regular"/>
                <a:cs typeface="ITC Motter Corpus Regular"/>
                <a:sym typeface="ITC Motter Corpus Regular"/>
              </a:rPr>
              <a:t>Methodology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4948526" y="47012479"/>
            <a:ext cx="20669882" cy="3584519"/>
            <a:chOff x="0" y="0"/>
            <a:chExt cx="2577596" cy="4470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577596" cy="447000"/>
            </a:xfrm>
            <a:custGeom>
              <a:avLst/>
              <a:gdLst/>
              <a:ahLst/>
              <a:cxnLst/>
              <a:rect l="l" t="t" r="r" b="b"/>
              <a:pathLst>
                <a:path w="2577596" h="447000">
                  <a:moveTo>
                    <a:pt x="0" y="0"/>
                  </a:moveTo>
                  <a:lnTo>
                    <a:pt x="2577596" y="0"/>
                  </a:lnTo>
                  <a:lnTo>
                    <a:pt x="2577596" y="447000"/>
                  </a:lnTo>
                  <a:lnTo>
                    <a:pt x="0" y="447000"/>
                  </a:lnTo>
                  <a:close/>
                </a:path>
              </a:pathLst>
            </a:custGeom>
            <a:ln w="27051" cap="sq">
              <a:solidFill>
                <a:srgbClr val="0C90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152400"/>
              <a:ext cx="2577596" cy="599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431"/>
                </a:lnSpc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5599631" y="47748369"/>
            <a:ext cx="19208469" cy="2863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58"/>
              </a:lnSpc>
            </a:pPr>
            <a:r>
              <a:rPr lang="en-US" sz="3184" dirty="0">
                <a:solidFill>
                  <a:srgbClr val="15426E"/>
                </a:solidFill>
                <a:latin typeface="Garet"/>
                <a:sym typeface="Garet"/>
              </a:rPr>
              <a:t>- Integration with real hospital APIs.</a:t>
            </a:r>
          </a:p>
          <a:p>
            <a:pPr>
              <a:lnSpc>
                <a:spcPts val="4458"/>
              </a:lnSpc>
            </a:pPr>
            <a:r>
              <a:rPr lang="en-US" sz="3184" dirty="0">
                <a:solidFill>
                  <a:srgbClr val="15426E"/>
                </a:solidFill>
                <a:latin typeface="Garet"/>
                <a:sym typeface="Garet"/>
              </a:rPr>
              <a:t>- Expansions to cities beyond Riyadh</a:t>
            </a:r>
          </a:p>
          <a:p>
            <a:pPr>
              <a:lnSpc>
                <a:spcPts val="4458"/>
              </a:lnSpc>
            </a:pPr>
            <a:r>
              <a:rPr lang="en-US" sz="3184" dirty="0">
                <a:solidFill>
                  <a:srgbClr val="15426E"/>
                </a:solidFill>
                <a:latin typeface="Garet"/>
                <a:sym typeface="Garet"/>
              </a:rPr>
              <a:t>- Cloud deployment for scalability.</a:t>
            </a:r>
          </a:p>
          <a:p>
            <a:pPr>
              <a:lnSpc>
                <a:spcPts val="4458"/>
              </a:lnSpc>
            </a:pPr>
            <a:endParaRPr lang="en-US" sz="3184" dirty="0">
              <a:solidFill>
                <a:srgbClr val="15426E"/>
              </a:solidFill>
              <a:latin typeface="Garet"/>
              <a:sym typeface="Garet"/>
            </a:endParaRPr>
          </a:p>
          <a:p>
            <a:pPr algn="l">
              <a:lnSpc>
                <a:spcPts val="4458"/>
              </a:lnSpc>
            </a:pPr>
            <a:endParaRPr lang="en-US" sz="3184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grpSp>
        <p:nvGrpSpPr>
          <p:cNvPr id="48" name="Group 48"/>
          <p:cNvGrpSpPr/>
          <p:nvPr/>
        </p:nvGrpSpPr>
        <p:grpSpPr>
          <a:xfrm>
            <a:off x="11242135" y="46208950"/>
            <a:ext cx="8115729" cy="1587044"/>
            <a:chOff x="0" y="-411822"/>
            <a:chExt cx="10820972" cy="2116058"/>
          </a:xfrm>
        </p:grpSpPr>
        <p:grpSp>
          <p:nvGrpSpPr>
            <p:cNvPr id="49" name="Group 49"/>
            <p:cNvGrpSpPr/>
            <p:nvPr/>
          </p:nvGrpSpPr>
          <p:grpSpPr>
            <a:xfrm>
              <a:off x="0" y="0"/>
              <a:ext cx="10820972" cy="1704236"/>
              <a:chOff x="0" y="0"/>
              <a:chExt cx="1012056" cy="159392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1012056" cy="159392"/>
              </a:xfrm>
              <a:custGeom>
                <a:avLst/>
                <a:gdLst/>
                <a:ahLst/>
                <a:cxnLst/>
                <a:rect l="l" t="t" r="r" b="b"/>
                <a:pathLst>
                  <a:path w="1012056" h="159392">
                    <a:moveTo>
                      <a:pt x="0" y="0"/>
                    </a:moveTo>
                    <a:lnTo>
                      <a:pt x="1012056" y="0"/>
                    </a:lnTo>
                    <a:lnTo>
                      <a:pt x="1012056" y="159392"/>
                    </a:lnTo>
                    <a:lnTo>
                      <a:pt x="0" y="15939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0" y="-152400"/>
                <a:ext cx="1012056" cy="3117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7431"/>
                  </a:lnSpc>
                </a:pPr>
                <a:endParaRPr/>
              </a:p>
            </p:txBody>
          </p:sp>
        </p:grpSp>
        <p:sp>
          <p:nvSpPr>
            <p:cNvPr id="52" name="TextBox 52"/>
            <p:cNvSpPr txBox="1"/>
            <p:nvPr/>
          </p:nvSpPr>
          <p:spPr>
            <a:xfrm>
              <a:off x="0" y="-411822"/>
              <a:ext cx="10713915" cy="16078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466"/>
                </a:lnSpc>
              </a:pPr>
              <a:r>
                <a:rPr lang="en-US" sz="5300" dirty="0">
                  <a:solidFill>
                    <a:srgbClr val="11426F"/>
                  </a:solidFill>
                  <a:latin typeface="ITC Motter Corpus Regular"/>
                  <a:ea typeface="ITC Motter Corpus Regular"/>
                  <a:cs typeface="ITC Motter Corpus Regular"/>
                  <a:sym typeface="ITC Motter Corpus Regular"/>
                </a:rPr>
                <a:t>Future</a:t>
              </a:r>
              <a:r>
                <a:rPr lang="en-US" sz="7475" dirty="0">
                  <a:solidFill>
                    <a:srgbClr val="11426F"/>
                  </a:solidFill>
                  <a:latin typeface="ITC Motter Corpus Regular"/>
                  <a:ea typeface="ITC Motter Corpus Regular"/>
                  <a:cs typeface="ITC Motter Corpus Regular"/>
                  <a:sym typeface="ITC Motter Corpus Regular"/>
                </a:rPr>
                <a:t> </a:t>
              </a:r>
              <a:r>
                <a:rPr lang="en-US" sz="5300" dirty="0">
                  <a:solidFill>
                    <a:srgbClr val="11426F"/>
                  </a:solidFill>
                  <a:latin typeface="ITC Motter Corpus Regular"/>
                  <a:ea typeface="ITC Motter Corpus Regular"/>
                  <a:cs typeface="ITC Motter Corpus Regular"/>
                  <a:sym typeface="ITC Motter Corpus Regular"/>
                </a:rPr>
                <a:t>Directions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965059" y="40641802"/>
            <a:ext cx="20669882" cy="5527989"/>
            <a:chOff x="0" y="0"/>
            <a:chExt cx="2577596" cy="689357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577596" cy="689357"/>
            </a:xfrm>
            <a:custGeom>
              <a:avLst/>
              <a:gdLst/>
              <a:ahLst/>
              <a:cxnLst/>
              <a:rect l="l" t="t" r="r" b="b"/>
              <a:pathLst>
                <a:path w="2577596" h="689357">
                  <a:moveTo>
                    <a:pt x="0" y="0"/>
                  </a:moveTo>
                  <a:lnTo>
                    <a:pt x="2577596" y="0"/>
                  </a:lnTo>
                  <a:lnTo>
                    <a:pt x="2577596" y="689357"/>
                  </a:lnTo>
                  <a:lnTo>
                    <a:pt x="0" y="689357"/>
                  </a:lnTo>
                  <a:close/>
                </a:path>
              </a:pathLst>
            </a:custGeom>
            <a:ln w="27051" cap="sq">
              <a:solidFill>
                <a:srgbClr val="0C90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152400"/>
              <a:ext cx="2577596" cy="8417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431"/>
                </a:lnSpc>
              </a:pPr>
              <a:endParaRPr/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5616163" y="41492660"/>
            <a:ext cx="19208469" cy="4017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58"/>
              </a:lnSpc>
            </a:pPr>
            <a:r>
              <a:rPr lang="en-US" sz="3184" dirty="0">
                <a:solidFill>
                  <a:srgbClr val="15426E"/>
                </a:solidFill>
                <a:latin typeface="Garet"/>
                <a:sym typeface="Garet"/>
              </a:rPr>
              <a:t>The development of Hayat confirms that a unified, secure, and intelligent healthcare ecosystem significantly mitigates system fragmentation while optimizing the patient experience. By bridging the gap between disparate providers, the platform establishes a scalable model for interoperable health informatics. The successful delivery of this prototype underscores its viability for large-scale deployment and its capacity for future integration with advanced diagnostic technologies, directly supporting the digital transformation objectives of the Saudi healthcare sector.</a:t>
            </a:r>
            <a:endParaRPr lang="en-US" sz="3184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grpSp>
        <p:nvGrpSpPr>
          <p:cNvPr id="57" name="Group 57"/>
          <p:cNvGrpSpPr/>
          <p:nvPr/>
        </p:nvGrpSpPr>
        <p:grpSpPr>
          <a:xfrm>
            <a:off x="12012203" y="39951207"/>
            <a:ext cx="7366716" cy="1278177"/>
            <a:chOff x="0" y="0"/>
            <a:chExt cx="6644653" cy="1704236"/>
          </a:xfrm>
        </p:grpSpPr>
        <p:grpSp>
          <p:nvGrpSpPr>
            <p:cNvPr id="58" name="Group 58"/>
            <p:cNvGrpSpPr/>
            <p:nvPr/>
          </p:nvGrpSpPr>
          <p:grpSpPr>
            <a:xfrm>
              <a:off x="0" y="0"/>
              <a:ext cx="6644653" cy="1704236"/>
              <a:chOff x="0" y="0"/>
              <a:chExt cx="621456" cy="159392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621456" cy="159392"/>
              </a:xfrm>
              <a:custGeom>
                <a:avLst/>
                <a:gdLst/>
                <a:ahLst/>
                <a:cxnLst/>
                <a:rect l="l" t="t" r="r" b="b"/>
                <a:pathLst>
                  <a:path w="621456" h="159392">
                    <a:moveTo>
                      <a:pt x="0" y="0"/>
                    </a:moveTo>
                    <a:lnTo>
                      <a:pt x="621456" y="0"/>
                    </a:lnTo>
                    <a:lnTo>
                      <a:pt x="621456" y="159392"/>
                    </a:lnTo>
                    <a:lnTo>
                      <a:pt x="0" y="15939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0" y="-152400"/>
                <a:ext cx="621456" cy="3117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7431"/>
                  </a:lnSpc>
                </a:pPr>
                <a:endParaRPr/>
              </a:p>
            </p:txBody>
          </p:sp>
        </p:grpSp>
        <p:sp>
          <p:nvSpPr>
            <p:cNvPr id="61" name="TextBox 61"/>
            <p:cNvSpPr txBox="1"/>
            <p:nvPr/>
          </p:nvSpPr>
          <p:spPr>
            <a:xfrm>
              <a:off x="0" y="40207"/>
              <a:ext cx="6578914" cy="15318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466"/>
                </a:lnSpc>
              </a:pPr>
              <a:r>
                <a:rPr lang="en-US" sz="5300" dirty="0">
                  <a:solidFill>
                    <a:srgbClr val="11426F"/>
                  </a:solidFill>
                  <a:latin typeface="ITC Motter Corpus Regular"/>
                  <a:ea typeface="ITC Motter Corpus Regular"/>
                  <a:cs typeface="ITC Motter Corpus Regular"/>
                  <a:sym typeface="ITC Motter Corpus Regular"/>
                </a:rPr>
                <a:t>Conclusion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4975104" y="33773796"/>
            <a:ext cx="20669882" cy="5527989"/>
            <a:chOff x="0" y="0"/>
            <a:chExt cx="2577596" cy="689357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2577596" cy="689357"/>
            </a:xfrm>
            <a:custGeom>
              <a:avLst/>
              <a:gdLst/>
              <a:ahLst/>
              <a:cxnLst/>
              <a:rect l="l" t="t" r="r" b="b"/>
              <a:pathLst>
                <a:path w="2577596" h="689357">
                  <a:moveTo>
                    <a:pt x="0" y="0"/>
                  </a:moveTo>
                  <a:lnTo>
                    <a:pt x="2577596" y="0"/>
                  </a:lnTo>
                  <a:lnTo>
                    <a:pt x="2577596" y="689357"/>
                  </a:lnTo>
                  <a:lnTo>
                    <a:pt x="0" y="689357"/>
                  </a:lnTo>
                  <a:close/>
                </a:path>
              </a:pathLst>
            </a:custGeom>
            <a:ln w="27051" cap="sq">
              <a:solidFill>
                <a:srgbClr val="0C90B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152400"/>
              <a:ext cx="2577596" cy="8417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431"/>
                </a:lnSpc>
              </a:pPr>
              <a:endParaRPr/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5599631" y="34380849"/>
            <a:ext cx="19208469" cy="4562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3184" dirty="0">
                <a:solidFill>
                  <a:srgbClr val="15426E"/>
                </a:solidFill>
                <a:latin typeface="Garet"/>
                <a:sym typeface="Garet"/>
              </a:rPr>
              <a:t>-Functional AI-based symptom assistant (</a:t>
            </a:r>
            <a:r>
              <a:rPr lang="en-US" sz="3184" dirty="0" err="1">
                <a:solidFill>
                  <a:srgbClr val="15426E"/>
                </a:solidFill>
                <a:latin typeface="Garet"/>
                <a:sym typeface="Garet"/>
              </a:rPr>
              <a:t>Morafiq</a:t>
            </a:r>
            <a:r>
              <a:rPr lang="en-US" sz="3184" dirty="0">
                <a:solidFill>
                  <a:srgbClr val="15426E"/>
                </a:solidFill>
                <a:latin typeface="Garet"/>
                <a:sym typeface="Garet"/>
              </a:rPr>
              <a:t>)</a:t>
            </a:r>
          </a:p>
          <a:p>
            <a:pPr algn="l"/>
            <a:endParaRPr lang="en-US" sz="3184" dirty="0">
              <a:solidFill>
                <a:srgbClr val="15426E"/>
              </a:solidFill>
              <a:latin typeface="Garet"/>
              <a:sym typeface="Garet"/>
            </a:endParaRPr>
          </a:p>
          <a:p>
            <a:pPr algn="l"/>
            <a:r>
              <a:rPr lang="en-US" sz="3184" dirty="0">
                <a:solidFill>
                  <a:srgbClr val="15426E"/>
                </a:solidFill>
                <a:latin typeface="Garet"/>
                <a:sym typeface="Garet"/>
              </a:rPr>
              <a:t>-Integrated modules for prescriptions and allergies</a:t>
            </a:r>
          </a:p>
          <a:p>
            <a:pPr algn="l"/>
            <a:endParaRPr lang="en-US" sz="3184" dirty="0">
              <a:solidFill>
                <a:srgbClr val="15426E"/>
              </a:solidFill>
              <a:latin typeface="Garet"/>
              <a:sym typeface="Garet"/>
            </a:endParaRPr>
          </a:p>
          <a:p>
            <a:pPr algn="l"/>
            <a:r>
              <a:rPr lang="en-US" sz="3184" dirty="0">
                <a:solidFill>
                  <a:srgbClr val="15426E"/>
                </a:solidFill>
                <a:latin typeface="Garet"/>
                <a:sym typeface="Garet"/>
              </a:rPr>
              <a:t>-Fully functional hospital search and filtering system.</a:t>
            </a:r>
          </a:p>
          <a:p>
            <a:pPr algn="l"/>
            <a:endParaRPr lang="en-US" sz="3184" dirty="0">
              <a:solidFill>
                <a:srgbClr val="15426E"/>
              </a:solidFill>
              <a:latin typeface="Garet"/>
              <a:sym typeface="Garet"/>
            </a:endParaRPr>
          </a:p>
          <a:p>
            <a:pPr algn="l"/>
            <a:r>
              <a:rPr lang="en-US" sz="3184" dirty="0">
                <a:solidFill>
                  <a:srgbClr val="15426E"/>
                </a:solidFill>
                <a:latin typeface="Garet"/>
                <a:sym typeface="Garet"/>
              </a:rPr>
              <a:t>-Real-time appointment booking module with availability management.</a:t>
            </a:r>
          </a:p>
          <a:p>
            <a:pPr algn="l">
              <a:lnSpc>
                <a:spcPts val="4458"/>
              </a:lnSpc>
            </a:pPr>
            <a:endParaRPr lang="en-US" sz="3184" dirty="0">
              <a:solidFill>
                <a:srgbClr val="15426E"/>
              </a:solidFill>
              <a:latin typeface="Garet"/>
              <a:sym typeface="Garet"/>
            </a:endParaRPr>
          </a:p>
          <a:p>
            <a:pPr algn="l">
              <a:lnSpc>
                <a:spcPts val="4458"/>
              </a:lnSpc>
            </a:pPr>
            <a:endParaRPr lang="en-US" sz="3184" dirty="0">
              <a:solidFill>
                <a:srgbClr val="15426E"/>
              </a:solidFill>
              <a:latin typeface="Garet"/>
              <a:sym typeface="Garet"/>
            </a:endParaRPr>
          </a:p>
        </p:txBody>
      </p:sp>
      <p:grpSp>
        <p:nvGrpSpPr>
          <p:cNvPr id="66" name="Group 66"/>
          <p:cNvGrpSpPr/>
          <p:nvPr/>
        </p:nvGrpSpPr>
        <p:grpSpPr>
          <a:xfrm>
            <a:off x="12609434" y="32997302"/>
            <a:ext cx="5192356" cy="1344387"/>
            <a:chOff x="-278488" y="-375775"/>
            <a:chExt cx="6923141" cy="2080011"/>
          </a:xfrm>
        </p:grpSpPr>
        <p:grpSp>
          <p:nvGrpSpPr>
            <p:cNvPr id="67" name="Group 67"/>
            <p:cNvGrpSpPr/>
            <p:nvPr/>
          </p:nvGrpSpPr>
          <p:grpSpPr>
            <a:xfrm>
              <a:off x="0" y="0"/>
              <a:ext cx="6644653" cy="1704236"/>
              <a:chOff x="0" y="0"/>
              <a:chExt cx="621456" cy="159392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621456" cy="159392"/>
              </a:xfrm>
              <a:custGeom>
                <a:avLst/>
                <a:gdLst/>
                <a:ahLst/>
                <a:cxnLst/>
                <a:rect l="l" t="t" r="r" b="b"/>
                <a:pathLst>
                  <a:path w="621456" h="159392">
                    <a:moveTo>
                      <a:pt x="0" y="0"/>
                    </a:moveTo>
                    <a:lnTo>
                      <a:pt x="621456" y="0"/>
                    </a:lnTo>
                    <a:lnTo>
                      <a:pt x="621456" y="159392"/>
                    </a:lnTo>
                    <a:lnTo>
                      <a:pt x="0" y="15939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0" y="-152400"/>
                <a:ext cx="621456" cy="3117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7431"/>
                  </a:lnSpc>
                </a:pPr>
                <a:endParaRPr/>
              </a:p>
            </p:txBody>
          </p:sp>
        </p:grpSp>
        <p:sp>
          <p:nvSpPr>
            <p:cNvPr id="70" name="TextBox 70"/>
            <p:cNvSpPr txBox="1"/>
            <p:nvPr/>
          </p:nvSpPr>
          <p:spPr>
            <a:xfrm>
              <a:off x="-278488" y="-375775"/>
              <a:ext cx="6578914" cy="15318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466"/>
                </a:lnSpc>
              </a:pPr>
              <a:r>
                <a:rPr lang="en-US" sz="5300" dirty="0">
                  <a:solidFill>
                    <a:srgbClr val="11426F"/>
                  </a:solidFill>
                  <a:latin typeface="ITC Motter Corpus Regular"/>
                  <a:ea typeface="ITC Motter Corpus Regular"/>
                  <a:cs typeface="ITC Motter Corpus Regular"/>
                  <a:sym typeface="ITC Motter Corpus Regular"/>
                </a:rPr>
                <a:t>Results</a:t>
              </a: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7984340" y="32018537"/>
            <a:ext cx="3222702" cy="731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2393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Figure 1. Hayat mobile application</a:t>
            </a: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DAE9FC86-A4F9-6661-F502-2C3866F533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9839" y="23437953"/>
            <a:ext cx="5331702" cy="8337727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110E67F8-881B-3EBF-3D1F-D90885A0C0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0806" y="23722361"/>
            <a:ext cx="11108329" cy="7315200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4E7FC695-C64D-06A5-60A3-B50B79EA779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02660" y="997151"/>
            <a:ext cx="1188979" cy="1188979"/>
          </a:xfrm>
          <a:prstGeom prst="round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400</Words>
  <Application>Microsoft Office PowerPoint</Application>
  <PresentationFormat>Custom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Calibri (MS)</vt:lpstr>
      <vt:lpstr>Arial</vt:lpstr>
      <vt:lpstr>Montserrat Bold</vt:lpstr>
      <vt:lpstr>Calibri (MS) Bold</vt:lpstr>
      <vt:lpstr>Garet</vt:lpstr>
      <vt:lpstr>ITC Motter Corpus Regular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5 Poster 3.pptx</dc:title>
  <dc:creator>Abdulaziz Alabdullatif</dc:creator>
  <cp:lastModifiedBy>RUND MAHAFDAH</cp:lastModifiedBy>
  <cp:revision>9</cp:revision>
  <dcterms:created xsi:type="dcterms:W3CDTF">2006-08-16T00:00:00Z</dcterms:created>
  <dcterms:modified xsi:type="dcterms:W3CDTF">2026-04-07T16:17:06Z</dcterms:modified>
  <dc:identifier>DAHF_m8veDM</dc:identifier>
</cp:coreProperties>
</file>