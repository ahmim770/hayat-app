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7" r:id="rId2"/>
    <p:sldMasterId id="2147483715" r:id="rId3"/>
  </p:sldMasterIdLst>
  <p:notesMasterIdLst>
    <p:notesMasterId r:id="rId12"/>
  </p:notesMasterIdLst>
  <p:sldIdLst>
    <p:sldId id="263" r:id="rId4"/>
    <p:sldId id="262" r:id="rId5"/>
    <p:sldId id="365" r:id="rId6"/>
    <p:sldId id="286" r:id="rId7"/>
    <p:sldId id="366" r:id="rId8"/>
    <p:sldId id="356" r:id="rId9"/>
    <p:sldId id="357" r:id="rId10"/>
    <p:sldId id="261" r:id="rId11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B4E6"/>
    <a:srgbClr val="EBF9F9"/>
    <a:srgbClr val="A0DCF5"/>
    <a:srgbClr val="1B3281"/>
    <a:srgbClr val="193079"/>
    <a:srgbClr val="0EBAB5"/>
    <a:srgbClr val="E1F0F0"/>
    <a:srgbClr val="0151A3"/>
    <a:srgbClr val="00B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6"/>
    <p:restoredTop sz="96608"/>
  </p:normalViewPr>
  <p:slideViewPr>
    <p:cSldViewPr snapToGrid="0" showGuides="1">
      <p:cViewPr varScale="1">
        <p:scale>
          <a:sx n="124" d="100"/>
          <a:sy n="124" d="100"/>
        </p:scale>
        <p:origin x="4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34A0D-6816-6E47-8200-5ECF292A4B01}" type="datetimeFigureOut">
              <a:rPr lang="en-SA" smtClean="0"/>
              <a:t>04/22/2026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4DE2-0F50-0341-9D29-0AD04A59E8B8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8935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4DE2-0F50-0341-9D29-0AD04A59E8B8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84590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4DE2-0F50-0341-9D29-0AD04A59E8B8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49073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8F04D-FE57-233E-45D6-E66317CCCB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936C1D-E490-8D23-4E9E-4153BFA2BC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10633" y="-6"/>
            <a:ext cx="12180731" cy="6851661"/>
          </a:xfrm>
          <a:prstGeom prst="rect">
            <a:avLst/>
          </a:prstGeom>
        </p:spPr>
      </p:pic>
      <p:sp>
        <p:nvSpPr>
          <p:cNvPr id="8" name="عنوان 11">
            <a:extLst>
              <a:ext uri="{FF2B5EF4-FFF2-40B4-BE49-F238E27FC236}">
                <a16:creationId xmlns:a16="http://schemas.microsoft.com/office/drawing/2014/main" id="{92850594-1404-1FBD-ABED-0275CEAC2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1896" y="1923610"/>
            <a:ext cx="9768205" cy="1325563"/>
          </a:xfrm>
        </p:spPr>
        <p:txBody>
          <a:bodyPr>
            <a:normAutofit/>
          </a:bodyPr>
          <a:lstStyle>
            <a:lvl1pPr algn="r">
              <a:defRPr sz="4400" b="1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Title</a:t>
            </a:r>
            <a:endParaRPr lang="ar-SA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999D90-10B9-D095-3259-D4D16BCE1E3B}"/>
              </a:ext>
            </a:extLst>
          </p:cNvPr>
          <p:cNvSpPr/>
          <p:nvPr userDrawn="1"/>
        </p:nvSpPr>
        <p:spPr>
          <a:xfrm>
            <a:off x="-244550" y="170121"/>
            <a:ext cx="12767853" cy="1127051"/>
          </a:xfrm>
          <a:prstGeom prst="round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A6CC6-5433-F6F4-7B2A-51D2FC6056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66943" y="418904"/>
            <a:ext cx="2265002" cy="7098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75566-9FAE-BE2F-8082-62C8AD4B3B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5302" y="370714"/>
            <a:ext cx="2534268" cy="643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F6F8C-B6EB-689D-9872-153169CD275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63457" y="268440"/>
            <a:ext cx="745291" cy="86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3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3BADA-520D-4F4E-3BF2-FF9DF81A60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F359E0-B998-2996-603C-CDAE2DE4A8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10633" y="-6"/>
            <a:ext cx="12180731" cy="68516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8E15059-3107-8B9F-A086-F94EC4F08CD4}"/>
              </a:ext>
            </a:extLst>
          </p:cNvPr>
          <p:cNvSpPr txBox="1"/>
          <p:nvPr userDrawn="1"/>
        </p:nvSpPr>
        <p:spPr>
          <a:xfrm>
            <a:off x="11268" y="-408511"/>
            <a:ext cx="3037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1" eaLnBrk="1" latinLnBrk="0" hangingPunct="1"/>
            <a:r>
              <a:rPr lang="ar-SA" sz="1100" dirty="0">
                <a:latin typeface="SST Arabic" panose="020B0504030504020204" pitchFamily="34" charset="-78"/>
                <a:cs typeface="SST Arabic" panose="020B0504030504020204" pitchFamily="34" charset="-78"/>
              </a:rPr>
              <a:t> يمكن تغيير الصورة تتغير الصورة حسب الموضوع</a:t>
            </a:r>
            <a:endParaRPr lang="en-SA" sz="1100" dirty="0">
              <a:latin typeface="SST Arabic" panose="020B0504030504020204" pitchFamily="34" charset="-78"/>
              <a:cs typeface="SST Arabic" panose="020B0504030504020204" pitchFamily="34" charset="-78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467DD9-4110-D833-478F-14E26D326CB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815" y="3261579"/>
            <a:ext cx="0" cy="779081"/>
          </a:xfrm>
          <a:prstGeom prst="line">
            <a:avLst/>
          </a:prstGeom>
          <a:ln w="73025">
            <a:solidFill>
              <a:srgbClr val="01B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2AB6192-5714-8AF8-F96B-F7D425E967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AF3BF47-2FD2-F672-9DC7-79D8EE9BE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04" y="3001683"/>
            <a:ext cx="8877177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0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4CA531-BBEC-FFC0-1E9E-49C6E7DD6D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5" y="-4289"/>
            <a:ext cx="12205542" cy="68656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25FB2A-AE47-9494-CD16-A0B721B1A0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A15198A-E1F4-CA84-4324-EEF7AC1CF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01683"/>
            <a:ext cx="10515600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397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4CA531-BBEC-FFC0-1E9E-49C6E7DD6D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" y="-1"/>
            <a:ext cx="12210902" cy="68686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25FB2A-AE47-9494-CD16-A0B721B1A0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A57DFD-E15F-4671-B78A-35610D8E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7412" y="3001683"/>
            <a:ext cx="8877177" cy="1325563"/>
          </a:xfrm>
        </p:spPr>
        <p:txBody>
          <a:bodyPr>
            <a:normAutofit/>
          </a:bodyPr>
          <a:lstStyle>
            <a:lvl1pPr algn="ct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727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1_Comparison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67779-4416-C52E-C49B-BB285EDA4920}"/>
              </a:ext>
            </a:extLst>
          </p:cNvPr>
          <p:cNvSpPr/>
          <p:nvPr userDrawn="1"/>
        </p:nvSpPr>
        <p:spPr>
          <a:xfrm>
            <a:off x="280416" y="283464"/>
            <a:ext cx="11631168" cy="6574536"/>
          </a:xfrm>
          <a:prstGeom prst="rect">
            <a:avLst/>
          </a:prstGeom>
          <a:solidFill>
            <a:schemeClr val="bg1">
              <a:lumMod val="95000"/>
              <a:alpha val="190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E20EF-ADD0-6E0D-E767-73BDF34FC4ED}"/>
              </a:ext>
            </a:extLst>
          </p:cNvPr>
          <p:cNvSpPr/>
          <p:nvPr userDrawn="1"/>
        </p:nvSpPr>
        <p:spPr>
          <a:xfrm>
            <a:off x="3855720" y="275657"/>
            <a:ext cx="4480560" cy="45719"/>
          </a:xfrm>
          <a:prstGeom prst="rect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A33B35E-3238-597F-0C4A-504C5351C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423624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F4567AE-4DA5-2C0C-3256-DBBC8FFD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6028B-32B3-8DE4-7A11-F1AA48418FE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B3573AF2-E007-094D-A85F-4D82CF01195C}" type="datetime1">
              <a:rPr lang="en-US" smtClean="0"/>
              <a:t>4/22/2026</a:t>
            </a:fld>
            <a:endParaRPr lang="en-SA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C8296E0-5E04-06A8-3098-E5D7C558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63C14-8C94-C169-C1C2-9878D4516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F615BB-5A1F-313E-57E6-4B6440181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31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3578DD-9C22-9731-3FCC-A34C16CC8377}"/>
              </a:ext>
            </a:extLst>
          </p:cNvPr>
          <p:cNvCxnSpPr/>
          <p:nvPr userDrawn="1"/>
        </p:nvCxnSpPr>
        <p:spPr>
          <a:xfrm flipH="1">
            <a:off x="5360669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038124-5BB2-8ED9-2B77-9C0C79E740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412990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8DC77344-A28C-0C93-3078-DE09FD8A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975B3-4220-9383-A423-83DF8B54F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147B00F1-14A2-946B-3F42-EA2130631C0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B541753E-B325-A947-ACC4-D78CBEE93416}" type="datetime1">
              <a:rPr lang="en-US" smtClean="0"/>
              <a:t>4/22/2026</a:t>
            </a:fld>
            <a:endParaRPr lang="en-SA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FEF18A8-24A2-7BFB-CF2D-4FA29857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54EE38-C103-257A-A51F-1168D7A51E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45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B18B-EC6B-9759-BA33-E6F6EFEF4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A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566A7B0C-9FD2-329A-66BE-B073992A3B0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656D051C-E7BB-F749-A647-6D58F860FB91}" type="datetime1">
              <a:rPr lang="en-US" smtClean="0"/>
              <a:t>4/22/2026</a:t>
            </a:fld>
            <a:endParaRPr lang="en-SA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EF47FED-71D4-7D0A-FFA4-5A6AADBF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E2FE6F-7BA8-DF7D-EB29-0B78A8F22D45}"/>
              </a:ext>
            </a:extLst>
          </p:cNvPr>
          <p:cNvCxnSpPr/>
          <p:nvPr userDrawn="1"/>
        </p:nvCxnSpPr>
        <p:spPr>
          <a:xfrm flipH="1">
            <a:off x="926893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2E229FB7-5371-467F-1C55-14A42B2C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817460"/>
            <a:ext cx="10515600" cy="873228"/>
          </a:xfrm>
        </p:spPr>
        <p:txBody>
          <a:bodyPr anchor="t" anchorCtr="0">
            <a:noAutofit/>
          </a:bodyPr>
          <a:lstStyle>
            <a:lvl1pPr algn="l" rtl="0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6E21BF-B586-57EA-283E-CE125C426C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7DC091-930D-7B07-15CF-A4217A2B30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0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78ED80C-BE47-7119-B166-FC050E10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261B9-EC36-E5A1-0329-9E0630F8223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2712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E04DFD32-87FB-FA4D-94F2-31129BD3E679}" type="datetime1">
              <a:rPr lang="en-US" smtClean="0"/>
              <a:t>4/22/2026</a:t>
            </a:fld>
            <a:endParaRPr lang="en-SA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60296E2-44A6-0CAE-CEB0-8BCA2392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71286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8CB9E-4278-1A60-6D5E-6E310AD8650E}"/>
              </a:ext>
            </a:extLst>
          </p:cNvPr>
          <p:cNvCxnSpPr/>
          <p:nvPr userDrawn="1"/>
        </p:nvCxnSpPr>
        <p:spPr>
          <a:xfrm flipH="1">
            <a:off x="6096000" y="383039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2">
            <a:extLst>
              <a:ext uri="{FF2B5EF4-FFF2-40B4-BE49-F238E27FC236}">
                <a16:creationId xmlns:a16="http://schemas.microsoft.com/office/drawing/2014/main" id="{C0098243-F5C9-CD4D-895F-5E73BFD78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817460"/>
            <a:ext cx="10515600" cy="873228"/>
          </a:xfrm>
        </p:spPr>
        <p:txBody>
          <a:bodyPr anchor="t" anchorCtr="0">
            <a:noAutofit/>
          </a:bodyPr>
          <a:lstStyle>
            <a:lvl1pPr algn="l" rtl="0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872DE-CF1C-5F82-23F5-592478F7D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45370"/>
            <a:ext cx="12207240" cy="215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985CC3-436F-9DB8-AF48-183237C90C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7AEC4F-7AC6-059E-9709-43208B12BD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76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4CA531-BBEC-FFC0-1E9E-49C6E7DD6D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" y="-1"/>
            <a:ext cx="12210902" cy="686863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722270C-B9A7-3075-92A6-F60688797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2093" y="3001683"/>
            <a:ext cx="8647814" cy="1325563"/>
          </a:xfrm>
        </p:spPr>
        <p:txBody>
          <a:bodyPr>
            <a:normAutofit/>
          </a:bodyPr>
          <a:lstStyle>
            <a:lvl1pPr algn="ctr" rtl="1">
              <a:defRPr lang="en-US" sz="72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0B78C6-20E3-B29D-3A57-809D0616D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235A1C-44FF-C673-012D-532EC5BCAE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03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1_Comparison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67779-4416-C52E-C49B-BB285EDA4920}"/>
              </a:ext>
            </a:extLst>
          </p:cNvPr>
          <p:cNvSpPr/>
          <p:nvPr userDrawn="1"/>
        </p:nvSpPr>
        <p:spPr>
          <a:xfrm>
            <a:off x="280416" y="283464"/>
            <a:ext cx="11631168" cy="6112378"/>
          </a:xfrm>
          <a:prstGeom prst="rect">
            <a:avLst/>
          </a:prstGeom>
          <a:solidFill>
            <a:schemeClr val="bg1">
              <a:lumMod val="95000"/>
              <a:alpha val="190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E20EF-ADD0-6E0D-E767-73BDF34FC4ED}"/>
              </a:ext>
            </a:extLst>
          </p:cNvPr>
          <p:cNvSpPr/>
          <p:nvPr userDrawn="1"/>
        </p:nvSpPr>
        <p:spPr>
          <a:xfrm>
            <a:off x="3855720" y="275657"/>
            <a:ext cx="4480560" cy="45719"/>
          </a:xfrm>
          <a:prstGeom prst="rect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A33B35E-3238-597F-0C4A-504C5351C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359828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F4567AE-4DA5-2C0C-3256-DBBC8FFD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D9EFC013-666D-BFCD-CCF7-4D735B00CF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B88476B0-B1B8-A349-966E-20F92CEBE96C}" type="datetime1">
              <a:rPr lang="en-US" smtClean="0"/>
              <a:t>4/22/2026</a:t>
            </a:fld>
            <a:endParaRPr lang="en-SA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905ACB8-4E7C-298A-D2DD-E41EC59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4F46597E-B038-6F42-8585-15B2E4B21C3A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87605F-E461-91A8-8ED0-44C50BB6A7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75" y="212156"/>
            <a:ext cx="2133589" cy="5418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0298C1-3B6A-A763-1DF0-D3F030BAAE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27791" y="122966"/>
            <a:ext cx="567540" cy="65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61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8F04D-FE57-233E-45D6-E66317CCCB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936C1D-E490-8D23-4E9E-4153BFA2BC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10633" y="-6"/>
            <a:ext cx="12180731" cy="6851661"/>
          </a:xfrm>
          <a:prstGeom prst="rect">
            <a:avLst/>
          </a:prstGeom>
        </p:spPr>
      </p:pic>
      <p:sp>
        <p:nvSpPr>
          <p:cNvPr id="8" name="عنوان 11">
            <a:extLst>
              <a:ext uri="{FF2B5EF4-FFF2-40B4-BE49-F238E27FC236}">
                <a16:creationId xmlns:a16="http://schemas.microsoft.com/office/drawing/2014/main" id="{92850594-1404-1FBD-ABED-0275CEAC2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1898" y="3015981"/>
            <a:ext cx="9768205" cy="1325563"/>
          </a:xfrm>
        </p:spPr>
        <p:txBody>
          <a:bodyPr>
            <a:normAutofit/>
          </a:bodyPr>
          <a:lstStyle>
            <a:lvl1pPr algn="r">
              <a:defRPr sz="4400" b="1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Title</a:t>
            </a:r>
            <a:endParaRPr lang="ar-SA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999D90-10B9-D095-3259-D4D16BCE1E3B}"/>
              </a:ext>
            </a:extLst>
          </p:cNvPr>
          <p:cNvSpPr/>
          <p:nvPr userDrawn="1"/>
        </p:nvSpPr>
        <p:spPr>
          <a:xfrm>
            <a:off x="-244549" y="170121"/>
            <a:ext cx="12756494" cy="1127051"/>
          </a:xfrm>
          <a:prstGeom prst="round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A6CC6-5433-F6F4-7B2A-51D2FC6056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94753" y="378703"/>
            <a:ext cx="2265002" cy="7098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75566-9FAE-BE2F-8082-62C8AD4B3B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5302" y="370714"/>
            <a:ext cx="2534268" cy="6435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F6E847-BA8F-4BD3-23E3-E56ABB9AB33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409190" y="269478"/>
            <a:ext cx="804186" cy="9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10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9F656C-3A0B-7039-7B86-38FAE469A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A04E73-6A66-B56B-8469-936BFB0D7459}"/>
              </a:ext>
            </a:extLst>
          </p:cNvPr>
          <p:cNvSpPr txBox="1"/>
          <p:nvPr userDrawn="1"/>
        </p:nvSpPr>
        <p:spPr>
          <a:xfrm>
            <a:off x="11268" y="-408511"/>
            <a:ext cx="3037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1" eaLnBrk="1" latinLnBrk="0" hangingPunct="1"/>
            <a:r>
              <a:rPr lang="ar-SA" sz="1100" dirty="0">
                <a:latin typeface="SST Arabic" panose="020B0504030504020204" pitchFamily="34" charset="-78"/>
                <a:cs typeface="SST Arabic" panose="020B0504030504020204" pitchFamily="34" charset="-78"/>
              </a:rPr>
              <a:t> يمكن تغيير الصورة تتغير الصورة حسب الموضوع</a:t>
            </a:r>
            <a:endParaRPr lang="en-SA" sz="1100" dirty="0">
              <a:latin typeface="SST Arabic" panose="020B0504030504020204" pitchFamily="34" charset="-78"/>
              <a:cs typeface="SST Arabic" panose="020B0504030504020204" pitchFamily="34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E7319-4D2B-9899-2AD8-9EE67126CF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-10" y="-1"/>
            <a:ext cx="12210902" cy="686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4E0E96-E7BD-0BF2-5228-F768700D3A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6F806-DDE8-B646-B5F5-7E1853850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04" y="3001683"/>
            <a:ext cx="8877177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89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6E7319-4D2B-9899-2AD8-9EE67126C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" y="-1"/>
            <a:ext cx="12210902" cy="686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4E0E96-E7BD-0BF2-5228-F768700D3A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6F806-DDE8-B646-B5F5-7E1853850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04" y="3001683"/>
            <a:ext cx="8877177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86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6E7319-4D2B-9899-2AD8-9EE67126CF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" y="-1"/>
            <a:ext cx="12210902" cy="686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4E0E96-E7BD-0BF2-5228-F768700D3A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6F806-DDE8-B646-B5F5-7E1853850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7412" y="3001683"/>
            <a:ext cx="8877177" cy="1325563"/>
          </a:xfrm>
        </p:spPr>
        <p:txBody>
          <a:bodyPr>
            <a:normAutofit/>
          </a:bodyPr>
          <a:lstStyle>
            <a:lvl1pPr algn="ct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423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1_Comparison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67779-4416-C52E-C49B-BB285EDA4920}"/>
              </a:ext>
            </a:extLst>
          </p:cNvPr>
          <p:cNvSpPr/>
          <p:nvPr userDrawn="1"/>
        </p:nvSpPr>
        <p:spPr>
          <a:xfrm>
            <a:off x="280416" y="283464"/>
            <a:ext cx="11631168" cy="6112378"/>
          </a:xfrm>
          <a:prstGeom prst="rect">
            <a:avLst/>
          </a:prstGeom>
          <a:solidFill>
            <a:schemeClr val="bg1">
              <a:lumMod val="95000"/>
              <a:alpha val="190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E20EF-ADD0-6E0D-E767-73BDF34FC4ED}"/>
              </a:ext>
            </a:extLst>
          </p:cNvPr>
          <p:cNvSpPr/>
          <p:nvPr userDrawn="1"/>
        </p:nvSpPr>
        <p:spPr>
          <a:xfrm>
            <a:off x="3855720" y="275657"/>
            <a:ext cx="4480560" cy="45719"/>
          </a:xfrm>
          <a:prstGeom prst="rect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24FA8-055A-EC6D-2103-C5992F9648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A33B35E-3238-597F-0C4A-504C5351C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359828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F4567AE-4DA5-2C0C-3256-DBBC8FFD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D9EFC013-666D-BFCD-CCF7-4D735B00CF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6D2404BE-BE86-684F-A9C4-F547EFC200D7}" type="datetime1">
              <a:rPr lang="en-US" smtClean="0"/>
              <a:t>4/22/2026</a:t>
            </a:fld>
            <a:endParaRPr lang="en-SA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905ACB8-4E7C-298A-D2DD-E41EC59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58287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3578DD-9C22-9731-3FCC-A34C16CC8377}"/>
              </a:ext>
            </a:extLst>
          </p:cNvPr>
          <p:cNvCxnSpPr/>
          <p:nvPr userDrawn="1"/>
        </p:nvCxnSpPr>
        <p:spPr>
          <a:xfrm flipH="1">
            <a:off x="5360669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2">
            <a:extLst>
              <a:ext uri="{FF2B5EF4-FFF2-40B4-BE49-F238E27FC236}">
                <a16:creationId xmlns:a16="http://schemas.microsoft.com/office/drawing/2014/main" id="{8DC77344-A28C-0C93-3078-DE09FD8A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975B3-4220-9383-A423-83DF8B54F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126687A-E19D-0214-47D6-3282E817E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359828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6548C412-98E2-4401-F174-B287B56AFF3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68623D4B-EF25-4D4F-9863-2F0559292079}" type="datetime1">
              <a:rPr lang="en-US" smtClean="0"/>
              <a:t>4/22/2026</a:t>
            </a:fld>
            <a:endParaRPr lang="en-SA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D8819F3-734F-DFE8-9B00-915AB632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1B4E6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59189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B18B-EC6B-9759-BA33-E6F6EFEF4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0E1481-BC92-BF71-418E-E10266DDFD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026" y="275657"/>
            <a:ext cx="2133589" cy="541803"/>
          </a:xfrm>
          <a:prstGeom prst="rect">
            <a:avLst/>
          </a:prstGeom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566A7B0C-9FD2-329A-66BE-B073992A3B0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C321EBB9-B8E2-E541-890F-833F73D522AB}" type="datetime1">
              <a:rPr lang="en-US" smtClean="0"/>
              <a:t>4/22/2026</a:t>
            </a:fld>
            <a:endParaRPr lang="en-SA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EF47FED-71D4-7D0A-FFA4-5A6AADBF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E2FE6F-7BA8-DF7D-EB29-0B78A8F22D45}"/>
              </a:ext>
            </a:extLst>
          </p:cNvPr>
          <p:cNvCxnSpPr/>
          <p:nvPr userDrawn="1"/>
        </p:nvCxnSpPr>
        <p:spPr>
          <a:xfrm flipH="1">
            <a:off x="926893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2E229FB7-5371-467F-1C55-14A42B2C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817460"/>
            <a:ext cx="10515600" cy="873228"/>
          </a:xfrm>
        </p:spPr>
        <p:txBody>
          <a:bodyPr anchor="t" anchorCtr="0">
            <a:noAutofit/>
          </a:bodyPr>
          <a:lstStyle>
            <a:lvl1pPr algn="l" rtl="0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8357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78ED80C-BE47-7119-B166-FC050E10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261B9-EC36-E5A1-0329-9E0630F8223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2712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DA3C993E-C6F6-C34B-976E-F6D958C4AEE0}" type="datetime1">
              <a:rPr lang="en-US" smtClean="0"/>
              <a:t>4/22/2026</a:t>
            </a:fld>
            <a:endParaRPr lang="en-SA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60296E2-44A6-0CAE-CEB0-8BCA2392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71286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8CB9E-4278-1A60-6D5E-6E310AD8650E}"/>
              </a:ext>
            </a:extLst>
          </p:cNvPr>
          <p:cNvCxnSpPr/>
          <p:nvPr userDrawn="1"/>
        </p:nvCxnSpPr>
        <p:spPr>
          <a:xfrm flipH="1">
            <a:off x="6096000" y="383039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2">
            <a:extLst>
              <a:ext uri="{FF2B5EF4-FFF2-40B4-BE49-F238E27FC236}">
                <a16:creationId xmlns:a16="http://schemas.microsoft.com/office/drawing/2014/main" id="{C0098243-F5C9-CD4D-895F-5E73BFD78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817460"/>
            <a:ext cx="10515600" cy="873228"/>
          </a:xfrm>
        </p:spPr>
        <p:txBody>
          <a:bodyPr anchor="t" anchorCtr="0">
            <a:noAutofit/>
          </a:bodyPr>
          <a:lstStyle>
            <a:lvl1pPr algn="l" rtl="0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872DE-CF1C-5F82-23F5-592478F7D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45370"/>
            <a:ext cx="12207240" cy="21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6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8D99A5-EAD3-9C83-E4C9-3905A1B49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68" y="6344"/>
            <a:ext cx="12180731" cy="6851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509DB3-5BC9-BBA2-2BD7-76EEC6C3F9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71AF1-A905-2506-7E6E-E72B25546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2093" y="3001683"/>
            <a:ext cx="8647814" cy="1325563"/>
          </a:xfrm>
        </p:spPr>
        <p:txBody>
          <a:bodyPr>
            <a:normAutofit/>
          </a:bodyPr>
          <a:lstStyle>
            <a:lvl1pPr algn="ctr" rtl="1">
              <a:defRPr lang="en-US" sz="72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0815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F8F04D-FE57-233E-45D6-E66317CCCB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936C1D-E490-8D23-4E9E-4153BFA2BC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10633" y="-6"/>
            <a:ext cx="12180731" cy="6851661"/>
          </a:xfrm>
          <a:prstGeom prst="rect">
            <a:avLst/>
          </a:prstGeom>
        </p:spPr>
      </p:pic>
      <p:sp>
        <p:nvSpPr>
          <p:cNvPr id="8" name="عنوان 11">
            <a:extLst>
              <a:ext uri="{FF2B5EF4-FFF2-40B4-BE49-F238E27FC236}">
                <a16:creationId xmlns:a16="http://schemas.microsoft.com/office/drawing/2014/main" id="{92850594-1404-1FBD-ABED-0275CEAC2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1898" y="3015981"/>
            <a:ext cx="9768205" cy="1325563"/>
          </a:xfrm>
        </p:spPr>
        <p:txBody>
          <a:bodyPr>
            <a:normAutofit/>
          </a:bodyPr>
          <a:lstStyle>
            <a:lvl1pPr algn="r">
              <a:defRPr sz="4400" b="1">
                <a:solidFill>
                  <a:schemeClr val="bg1"/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ar-SA" dirty="0"/>
              <a:t>عنوان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999D90-10B9-D095-3259-D4D16BCE1E3B}"/>
              </a:ext>
            </a:extLst>
          </p:cNvPr>
          <p:cNvSpPr/>
          <p:nvPr userDrawn="1"/>
        </p:nvSpPr>
        <p:spPr>
          <a:xfrm>
            <a:off x="-244549" y="170121"/>
            <a:ext cx="6340549" cy="1127051"/>
          </a:xfrm>
          <a:prstGeom prst="round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A6CC6-5433-F6F4-7B2A-51D2FC6056B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01864" y="404086"/>
            <a:ext cx="2265002" cy="7098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75566-9FAE-BE2F-8082-62C8AD4B3B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25302" y="370714"/>
            <a:ext cx="2534268" cy="6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2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682BC1-20D0-597B-1C85-F1AFE20591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837" r="21837"/>
          <a:stretch/>
        </p:blipFill>
        <p:spPr>
          <a:xfrm>
            <a:off x="-90357" y="-254937"/>
            <a:ext cx="12372713" cy="73678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6631F6-4B8C-D14C-A947-E3E83752DDD2}"/>
              </a:ext>
            </a:extLst>
          </p:cNvPr>
          <p:cNvSpPr txBox="1"/>
          <p:nvPr userDrawn="1"/>
        </p:nvSpPr>
        <p:spPr>
          <a:xfrm>
            <a:off x="11268" y="-408511"/>
            <a:ext cx="3037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1" eaLnBrk="1" latinLnBrk="0" hangingPunct="1"/>
            <a:r>
              <a:rPr lang="ar-SA" sz="1100" dirty="0">
                <a:latin typeface="SST Arabic" panose="020B0504030504020204" pitchFamily="34" charset="-78"/>
                <a:cs typeface="SST Arabic" panose="020B0504030504020204" pitchFamily="34" charset="-78"/>
              </a:rPr>
              <a:t> يمكن تغيير الصورة تتغير الصورة حسب الموضوع</a:t>
            </a:r>
            <a:endParaRPr lang="en-SA" sz="1100" dirty="0">
              <a:latin typeface="SST Arabic" panose="020B0504030504020204" pitchFamily="34" charset="-78"/>
              <a:cs typeface="SST Arabic" panose="020B0504030504020204" pitchFamily="34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8D99A5-EAD3-9C83-E4C9-3905A1B494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5000"/>
          </a:blip>
          <a:srcRect/>
          <a:stretch/>
        </p:blipFill>
        <p:spPr>
          <a:xfrm>
            <a:off x="11268" y="6344"/>
            <a:ext cx="12180731" cy="6851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B3A3B-1E36-FFB8-2A26-7A898CF0A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01683"/>
            <a:ext cx="9677400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0B806-5781-C196-548C-65E14DA5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B033407A-9FA6-5F4E-A842-4F2CDD1F8FB8}" type="datetime1">
              <a:rPr lang="en-US" smtClean="0"/>
              <a:t>4/22/2026</a:t>
            </a:fld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69DBA-CF49-D88C-693B-4B1C199C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173DD4-2507-0C01-4F0F-58EC355A01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67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8D99A5-EAD3-9C83-E4C9-3905A1B49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68" y="6344"/>
            <a:ext cx="12180731" cy="6851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B3A3B-1E36-FFB8-2A26-7A898CF0A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01683"/>
            <a:ext cx="9677400" cy="1325563"/>
          </a:xfrm>
        </p:spPr>
        <p:txBody>
          <a:bodyPr>
            <a:normAutofit/>
          </a:bodyPr>
          <a:lstStyle>
            <a:lvl1pPr algn="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0B806-5781-C196-548C-65E14DA5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797E094E-9D97-DE4B-B665-39B8A99E91E4}" type="datetime1">
              <a:rPr lang="en-US" smtClean="0"/>
              <a:t>4/22/2026</a:t>
            </a:fld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69DBA-CF49-D88C-693B-4B1C199C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A6995-55F2-B048-C5FA-D9D5DD298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516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8D99A5-EAD3-9C83-E4C9-3905A1B49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68" y="6344"/>
            <a:ext cx="12180731" cy="6851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B3A3B-1E36-FFB8-2A26-7A898CF0A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3001683"/>
            <a:ext cx="9677400" cy="1325563"/>
          </a:xfrm>
        </p:spPr>
        <p:txBody>
          <a:bodyPr>
            <a:normAutofit/>
          </a:bodyPr>
          <a:lstStyle>
            <a:lvl1pPr algn="ctr" rtl="1">
              <a:defRPr lang="en-US" sz="40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عنوان فرعي أو فاصل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0B806-5781-C196-548C-65E14DA5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0D8F4452-DFBC-BC4F-A5BA-EB9DF7137733}" type="datetime1">
              <a:rPr lang="en-US" smtClean="0"/>
              <a:t>4/22/2026</a:t>
            </a:fld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69DBA-CF49-D88C-693B-4B1C199C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A6995-55F2-B048-C5FA-D9D5DD2984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62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1_Comparison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67779-4416-C52E-C49B-BB285EDA4920}"/>
              </a:ext>
            </a:extLst>
          </p:cNvPr>
          <p:cNvSpPr/>
          <p:nvPr userDrawn="1"/>
        </p:nvSpPr>
        <p:spPr>
          <a:xfrm>
            <a:off x="280416" y="283464"/>
            <a:ext cx="11631168" cy="6574536"/>
          </a:xfrm>
          <a:prstGeom prst="rect">
            <a:avLst/>
          </a:prstGeom>
          <a:solidFill>
            <a:schemeClr val="bg1">
              <a:lumMod val="95000"/>
              <a:alpha val="190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E20EF-ADD0-6E0D-E767-73BDF34FC4ED}"/>
              </a:ext>
            </a:extLst>
          </p:cNvPr>
          <p:cNvSpPr/>
          <p:nvPr userDrawn="1"/>
        </p:nvSpPr>
        <p:spPr>
          <a:xfrm>
            <a:off x="3855720" y="275657"/>
            <a:ext cx="4480560" cy="45719"/>
          </a:xfrm>
          <a:prstGeom prst="rect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24FA8-055A-EC6D-2103-C5992F9648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F4567AE-4DA5-2C0C-3256-DBBC8FFD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C1502AB-32AD-FC58-0DA2-09E91519F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359828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7DBF195-FC3C-F802-FEB9-F2455A9F0D2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5AFED51C-E04B-294E-9AC5-B2C0F732089C}" type="datetime1">
              <a:rPr lang="en-US" smtClean="0"/>
              <a:t>4/22/2026</a:t>
            </a:fld>
            <a:endParaRPr lang="en-SA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CED2BB-CF5C-34BF-405D-97084F53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9440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3578DD-9C22-9731-3FCC-A34C16CC8377}"/>
              </a:ext>
            </a:extLst>
          </p:cNvPr>
          <p:cNvCxnSpPr/>
          <p:nvPr userDrawn="1"/>
        </p:nvCxnSpPr>
        <p:spPr>
          <a:xfrm flipH="1">
            <a:off x="5360669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2">
            <a:extLst>
              <a:ext uri="{FF2B5EF4-FFF2-40B4-BE49-F238E27FC236}">
                <a16:creationId xmlns:a16="http://schemas.microsoft.com/office/drawing/2014/main" id="{8DC77344-A28C-0C93-3078-DE09FD8A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817460"/>
            <a:ext cx="10789609" cy="873228"/>
          </a:xfrm>
        </p:spPr>
        <p:txBody>
          <a:bodyPr anchor="t" anchorCtr="0">
            <a:noAutofit/>
          </a:bodyPr>
          <a:lstStyle>
            <a:lvl1pPr algn="r" rtl="1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975B3-4220-9383-A423-83DF8B54F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D3C2FB2-D8B3-0B27-6C90-6590D4A587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4359828"/>
          </a:xfrm>
        </p:spPr>
        <p:txBody>
          <a:bodyPr>
            <a:noAutofit/>
          </a:bodyPr>
          <a:lstStyle>
            <a:lvl1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 algn="r" rtl="1">
              <a:defRPr sz="1800"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13DB4-A24B-5883-BDA1-5F7E7CB42D7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174B6E6C-E681-CD4B-8B45-C687AA0A7B70}" type="datetime1">
              <a:rPr lang="en-US" smtClean="0"/>
              <a:t>4/22/2026</a:t>
            </a:fld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C8252-3F79-9B20-B755-64B9CE45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43649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4B18B-EC6B-9759-BA33-E6F6EFEF4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  <a:lvl2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2pPr>
            <a:lvl3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3pPr>
            <a:lvl4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4pPr>
            <a:lvl5pPr>
              <a:defRPr b="0" i="0"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0E1481-BC92-BF71-418E-E10266DDFD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54026" y="275657"/>
            <a:ext cx="2133589" cy="541803"/>
          </a:xfrm>
          <a:prstGeom prst="rect">
            <a:avLst/>
          </a:prstGeom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566A7B0C-9FD2-329A-66BE-B073992A3B0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B7F34731-C68D-A445-8D06-AC5592450AFD}" type="datetime1">
              <a:rPr lang="en-US" smtClean="0"/>
              <a:t>4/22/2026</a:t>
            </a:fld>
            <a:endParaRPr lang="en-SA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EF47FED-71D4-7D0A-FFA4-5A6AADBF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193079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E2FE6F-7BA8-DF7D-EB29-0B78A8F22D45}"/>
              </a:ext>
            </a:extLst>
          </p:cNvPr>
          <p:cNvCxnSpPr/>
          <p:nvPr userDrawn="1"/>
        </p:nvCxnSpPr>
        <p:spPr>
          <a:xfrm flipH="1">
            <a:off x="926893" y="1660332"/>
            <a:ext cx="5963822" cy="0"/>
          </a:xfrm>
          <a:prstGeom prst="line">
            <a:avLst/>
          </a:prstGeom>
          <a:ln w="19050">
            <a:solidFill>
              <a:srgbClr val="11B4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2E229FB7-5371-467F-1C55-14A42B2C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817460"/>
            <a:ext cx="10515600" cy="873228"/>
          </a:xfrm>
        </p:spPr>
        <p:txBody>
          <a:bodyPr anchor="t" anchorCtr="0">
            <a:noAutofit/>
          </a:bodyPr>
          <a:lstStyle>
            <a:lvl1pPr algn="l" rtl="0">
              <a:defRPr sz="3200" b="0" i="0">
                <a:solidFill>
                  <a:srgbClr val="11B4E6"/>
                </a:solidFill>
                <a:latin typeface="DIN Next LT Arabic Medium" panose="020B0503020203050203" pitchFamily="34" charset="-78"/>
                <a:cs typeface="DIN Next LT Arabic Medium" panose="020B0503020203050203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78030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4CA531-BBEC-FFC0-1E9E-49C6E7DD6D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" y="-1"/>
            <a:ext cx="12210902" cy="6868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25FB2A-AE47-9494-CD16-A0B721B1A0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275657"/>
            <a:ext cx="2133589" cy="54180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A15198A-E1F4-CA84-4324-EEF7AC1CF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2093" y="3001683"/>
            <a:ext cx="8647814" cy="1325563"/>
          </a:xfrm>
        </p:spPr>
        <p:txBody>
          <a:bodyPr>
            <a:normAutofit/>
          </a:bodyPr>
          <a:lstStyle>
            <a:lvl1pPr algn="ctr" rtl="1">
              <a:defRPr lang="en-US" sz="7200" b="0" i="0" kern="1200" dirty="0">
                <a:solidFill>
                  <a:schemeClr val="bg1"/>
                </a:solidFill>
                <a:latin typeface="DIN Next LT Arabic Medium" panose="020B0503020203050203" pitchFamily="34" charset="-78"/>
                <a:ea typeface="+mj-ea"/>
                <a:cs typeface="DIN Next LT Arabic Medium" panose="020B0503020203050203" pitchFamily="34" charset="-78"/>
              </a:defRPr>
            </a:lvl1pPr>
          </a:lstStyle>
          <a:p>
            <a:r>
              <a:rPr lang="ar-SA" dirty="0"/>
              <a:t>شكراً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4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17916-1F0A-5702-1688-55EB37CD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BA266-2C07-2B23-5AC9-3E226C4A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D9B63D8E-425B-EE57-B93C-3A5149546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FF403697-7F2D-124B-9106-1A9A405D8961}" type="datetime1">
              <a:rPr lang="en-US" smtClean="0"/>
              <a:pPr/>
              <a:t>4/22/2026</a:t>
            </a:fld>
            <a:endParaRPr lang="en-SA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0C262FF-C534-E6E4-BB3F-9683DEE8C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623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7" r:id="rId4"/>
    <p:sldLayoutId id="2147483673" r:id="rId5"/>
    <p:sldLayoutId id="2147483674" r:id="rId6"/>
    <p:sldLayoutId id="2147483681" r:id="rId7"/>
    <p:sldLayoutId id="2147483684" r:id="rId8"/>
    <p:sldLayoutId id="2147483668" r:id="rId9"/>
    <p:sldLayoutId id="2147483664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17916-1F0A-5702-1688-55EB37CD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BA266-2C07-2B23-5AC9-3E226C4A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53381820-4546-5998-DE9C-14A1B5A74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FF403697-7F2D-124B-9106-1A9A405D8961}" type="datetime1">
              <a:rPr lang="en-US" smtClean="0"/>
              <a:pPr/>
              <a:t>4/22/2026</a:t>
            </a:fld>
            <a:endParaRPr lang="en-SA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952A068-B7BC-0421-D3D7-D36B18106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10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17916-1F0A-5702-1688-55EB37CD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BA266-2C07-2B23-5AC9-3E226C4A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2A6956A1-A987-94DF-8FA0-03C9AD7C6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5687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FF403697-7F2D-124B-9106-1A9A405D8961}" type="datetime1">
              <a:rPr lang="en-US" smtClean="0"/>
              <a:pPr/>
              <a:t>4/22/2026</a:t>
            </a:fld>
            <a:endParaRPr lang="en-SA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4C4D3AE-138E-ED7C-99E5-22189ACF5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rgbClr val="1B328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fld id="{9AF1510B-1424-234D-B029-9BA8AB7CE4C0}" type="slidenum">
              <a:rPr lang="en-SA" smtClean="0"/>
              <a:pPr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76148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verseplanet.net/blog/the-insatiable-hunger-of-ai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CFC59E-01A1-EF19-1F9F-8D8C9E82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10" y="1433680"/>
            <a:ext cx="11180779" cy="1325563"/>
          </a:xfrm>
        </p:spPr>
        <p:txBody>
          <a:bodyPr/>
          <a:lstStyle/>
          <a:p>
            <a:pPr algn="l"/>
            <a:r>
              <a:rPr lang="en-US" dirty="0"/>
              <a:t>Title: </a:t>
            </a:r>
            <a:r>
              <a:rPr lang="en-US" b="0" dirty="0"/>
              <a:t>Hayat – Unified Hospital App</a:t>
            </a:r>
            <a:endParaRPr lang="en-US" dirty="0"/>
          </a:p>
        </p:txBody>
      </p:sp>
      <p:sp>
        <p:nvSpPr>
          <p:cNvPr id="2" name="عنوان 11">
            <a:extLst>
              <a:ext uri="{FF2B5EF4-FFF2-40B4-BE49-F238E27FC236}">
                <a16:creationId xmlns:a16="http://schemas.microsoft.com/office/drawing/2014/main" id="{1D313975-AF3C-4879-9619-BC3C4E45F6BB}"/>
              </a:ext>
            </a:extLst>
          </p:cNvPr>
          <p:cNvSpPr txBox="1">
            <a:spLocks/>
          </p:cNvSpPr>
          <p:nvPr/>
        </p:nvSpPr>
        <p:spPr>
          <a:xfrm>
            <a:off x="592889" y="3217542"/>
            <a:ext cx="97682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ST Arabic" panose="020B0504030504020204" pitchFamily="34" charset="-78"/>
                <a:ea typeface="+mj-ea"/>
                <a:cs typeface="SST Arabic" panose="020B0504030504020204" pitchFamily="34" charset="-78"/>
              </a:defRPr>
            </a:lvl1pPr>
          </a:lstStyle>
          <a:p>
            <a:pPr algn="l"/>
            <a:r>
              <a:rPr lang="en-US" sz="2400" dirty="0"/>
              <a:t>Students Names: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Ahmed Almuhanna</a:t>
            </a:r>
          </a:p>
          <a:p>
            <a:pPr algn="l"/>
            <a:r>
              <a:rPr lang="en-US" sz="2400" dirty="0"/>
              <a:t>Adam </a:t>
            </a:r>
            <a:r>
              <a:rPr lang="en-US" sz="2400" dirty="0" err="1"/>
              <a:t>Aljuwayed</a:t>
            </a:r>
            <a:endParaRPr lang="en-US" sz="2400" dirty="0"/>
          </a:p>
          <a:p>
            <a:pPr algn="l"/>
            <a:r>
              <a:rPr lang="en-US" sz="2400" dirty="0"/>
              <a:t>Abdulaziz Alabdullatif</a:t>
            </a:r>
          </a:p>
          <a:p>
            <a:pPr algn="l"/>
            <a:r>
              <a:rPr lang="en-US" sz="2400" dirty="0"/>
              <a:t>Nawaf </a:t>
            </a:r>
            <a:r>
              <a:rPr lang="en-US" sz="2400" dirty="0" err="1"/>
              <a:t>Aljarrah</a:t>
            </a:r>
            <a:endParaRPr lang="ar-SA" sz="2400" dirty="0"/>
          </a:p>
        </p:txBody>
      </p:sp>
      <p:sp>
        <p:nvSpPr>
          <p:cNvPr id="4" name="عنوان 11">
            <a:extLst>
              <a:ext uri="{FF2B5EF4-FFF2-40B4-BE49-F238E27FC236}">
                <a16:creationId xmlns:a16="http://schemas.microsoft.com/office/drawing/2014/main" id="{9A918260-38AF-F13D-525E-084EF379291C}"/>
              </a:ext>
            </a:extLst>
          </p:cNvPr>
          <p:cNvSpPr txBox="1">
            <a:spLocks/>
          </p:cNvSpPr>
          <p:nvPr/>
        </p:nvSpPr>
        <p:spPr>
          <a:xfrm>
            <a:off x="592889" y="5001405"/>
            <a:ext cx="97682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ST Arabic" panose="020B0504030504020204" pitchFamily="34" charset="-78"/>
                <a:ea typeface="+mj-ea"/>
                <a:cs typeface="SST Arabic" panose="020B0504030504020204" pitchFamily="34" charset="-78"/>
              </a:defRPr>
            </a:lvl1pPr>
          </a:lstStyle>
          <a:p>
            <a:pPr algn="l"/>
            <a:r>
              <a:rPr lang="en-US" sz="2400" dirty="0"/>
              <a:t>Supervisor: Dr. </a:t>
            </a:r>
            <a:r>
              <a:rPr lang="en-US" sz="2400" dirty="0" err="1"/>
              <a:t>Omaia</a:t>
            </a:r>
            <a:r>
              <a:rPr lang="en-US" sz="2400" dirty="0"/>
              <a:t> Al-Omari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28994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0AC328-82E9-718A-742E-9EA4E732CE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 rtl="0"/>
            <a:r>
              <a:rPr lang="en-US" dirty="0"/>
              <a:t>Healthcare services in Saudi Arabia are fragmented across multiple hospital systems.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9DB54B-A6F4-717B-F5F3-2D95799E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Problem &amp; Proposed Solution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EFBA9-B166-6BDD-4DB7-C020E506E6E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695687" y="6356350"/>
            <a:ext cx="2743200" cy="365125"/>
          </a:xfrm>
        </p:spPr>
        <p:txBody>
          <a:bodyPr/>
          <a:lstStyle/>
          <a:p>
            <a:fld id="{2F1B3E02-56F5-464E-A0FD-07F748106475}" type="datetime1">
              <a:rPr lang="en-US" smtClean="0"/>
              <a:pPr/>
              <a:t>4/22/2026</a:t>
            </a:fld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A475D-F63C-1A1A-3AAE-CA123676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F46597E-B038-6F42-8585-15B2E4B21C3A}" type="slidenum">
              <a:rPr lang="en-SA" smtClean="0"/>
              <a:pPr/>
              <a:t>2</a:t>
            </a:fld>
            <a:endParaRPr lang="en-SA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09A15E-A401-FB7B-ECAE-FDA7DB2894E8}"/>
              </a:ext>
            </a:extLst>
          </p:cNvPr>
          <p:cNvSpPr/>
          <p:nvPr/>
        </p:nvSpPr>
        <p:spPr>
          <a:xfrm>
            <a:off x="8249829" y="2755884"/>
            <a:ext cx="2283136" cy="2321959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>
            <a:noFill/>
          </a:ln>
          <a:effectLst>
            <a:outerShdw blurRad="137973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Low"/>
            <a:r>
              <a:rPr lang="en-US" sz="1600" dirty="0">
                <a:solidFill>
                  <a:schemeClr val="tx1"/>
                </a:solidFill>
                <a:cs typeface="SST Arabic" panose="020B0504030504020204" pitchFamily="34" charset="-78"/>
              </a:rPr>
              <a:t>Hayat solution</a:t>
            </a:r>
          </a:p>
          <a:p>
            <a:pPr algn="justLow"/>
            <a:endParaRPr lang="en-US" sz="1600" dirty="0">
              <a:solidFill>
                <a:schemeClr val="tx1"/>
              </a:solidFill>
              <a:cs typeface="SST Arabic" panose="020B0504030504020204" pitchFamily="34" charset="-78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cs typeface="SST Arabic" panose="020B0504030504020204" pitchFamily="34" charset="-78"/>
              </a:rPr>
              <a:t>Unified healthcare platform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cs typeface="SST Arabic" panose="020B0504030504020204" pitchFamily="34" charset="-78"/>
              </a:rPr>
              <a:t>AI-powered symptom assistant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cs typeface="SST Arabic" panose="020B0504030504020204" pitchFamily="34" charset="-78"/>
              </a:rPr>
              <a:t>Secure centralized access</a:t>
            </a:r>
          </a:p>
          <a:p>
            <a:pPr marL="285750" indent="-285750" algn="justLow">
              <a:buFontTx/>
              <a:buChar char="-"/>
            </a:pPr>
            <a:endParaRPr lang="en-US" sz="1600" dirty="0">
              <a:solidFill>
                <a:schemeClr val="tx1"/>
              </a:solidFill>
              <a:cs typeface="SST Arabic" panose="020B0504030504020204" pitchFamily="34" charset="-78"/>
            </a:endParaRPr>
          </a:p>
          <a:p>
            <a:pPr algn="justLow"/>
            <a:endParaRPr lang="en-US" sz="1600" dirty="0">
              <a:solidFill>
                <a:schemeClr val="tx1"/>
              </a:solidFill>
              <a:cs typeface="SST Arabic" panose="020B0504030504020204" pitchFamily="34" charset="-78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C71335-C569-B447-098D-66E538A0CA4C}"/>
              </a:ext>
            </a:extLst>
          </p:cNvPr>
          <p:cNvSpPr/>
          <p:nvPr/>
        </p:nvSpPr>
        <p:spPr>
          <a:xfrm>
            <a:off x="5252263" y="2755884"/>
            <a:ext cx="2283136" cy="2321959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>
            <a:noFill/>
          </a:ln>
          <a:effectLst>
            <a:outerShdw blurRad="137973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Patient Challenges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</a:rPr>
              <a:t>Time Delays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</a:rPr>
              <a:t>Inefficient booking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</a:rPr>
              <a:t>Confusion during emergencies</a:t>
            </a:r>
          </a:p>
          <a:p>
            <a:pPr marL="285750" indent="-285750">
              <a:buFontTx/>
              <a:buChar char="-"/>
            </a:pPr>
            <a:endParaRPr lang="en-SA" sz="1600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1812D7C-DB26-094F-87A9-5470D4F5F220}"/>
              </a:ext>
            </a:extLst>
          </p:cNvPr>
          <p:cNvSpPr/>
          <p:nvPr/>
        </p:nvSpPr>
        <p:spPr>
          <a:xfrm>
            <a:off x="2241935" y="2755884"/>
            <a:ext cx="2283136" cy="2321959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>
            <a:noFill/>
          </a:ln>
          <a:effectLst>
            <a:outerShdw blurRad="137973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Patients must use multiple hospital apps for appointments, lab results and prescriptions.</a:t>
            </a:r>
            <a:endParaRPr lang="en-SA" sz="1600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091390-2D1D-A877-9C4E-98D08B406609}"/>
              </a:ext>
            </a:extLst>
          </p:cNvPr>
          <p:cNvSpPr/>
          <p:nvPr/>
        </p:nvSpPr>
        <p:spPr>
          <a:xfrm>
            <a:off x="10399401" y="2676649"/>
            <a:ext cx="267128" cy="267128"/>
          </a:xfrm>
          <a:prstGeom prst="ellipse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432631-DE67-A5B3-40AF-3B9620A2FC21}"/>
              </a:ext>
            </a:extLst>
          </p:cNvPr>
          <p:cNvSpPr/>
          <p:nvPr/>
        </p:nvSpPr>
        <p:spPr>
          <a:xfrm>
            <a:off x="7350465" y="2656101"/>
            <a:ext cx="267128" cy="267128"/>
          </a:xfrm>
          <a:prstGeom prst="ellipse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B0186E4-572E-2CFC-4B0B-5BB67F3AEEFE}"/>
              </a:ext>
            </a:extLst>
          </p:cNvPr>
          <p:cNvSpPr/>
          <p:nvPr/>
        </p:nvSpPr>
        <p:spPr>
          <a:xfrm>
            <a:off x="4360685" y="2676649"/>
            <a:ext cx="267128" cy="267128"/>
          </a:xfrm>
          <a:prstGeom prst="ellipse">
            <a:avLst/>
          </a:prstGeom>
          <a:solidFill>
            <a:srgbClr val="11B4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BFF204-B8DB-D22A-8D3D-E10ADC765016}"/>
              </a:ext>
            </a:extLst>
          </p:cNvPr>
          <p:cNvSpPr txBox="1"/>
          <p:nvPr/>
        </p:nvSpPr>
        <p:spPr>
          <a:xfrm>
            <a:off x="2480514" y="1866335"/>
            <a:ext cx="1805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dirty="0">
                <a:solidFill>
                  <a:srgbClr val="00B0F0"/>
                </a:solidFill>
              </a:rPr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7E513-7663-DFE5-4482-3E14943BA252}"/>
              </a:ext>
            </a:extLst>
          </p:cNvPr>
          <p:cNvSpPr txBox="1"/>
          <p:nvPr/>
        </p:nvSpPr>
        <p:spPr>
          <a:xfrm>
            <a:off x="5483727" y="2386552"/>
            <a:ext cx="182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Impact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F26D4-E2B6-0687-3A39-B9D8CB645C39}"/>
              </a:ext>
            </a:extLst>
          </p:cNvPr>
          <p:cNvSpPr txBox="1"/>
          <p:nvPr/>
        </p:nvSpPr>
        <p:spPr>
          <a:xfrm>
            <a:off x="8705319" y="2386552"/>
            <a:ext cx="139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1B4E6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8911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7215-E3F2-73B0-6706-3477ADDE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BE1AF-FF9F-46C7-5E27-AABBD70563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1817689"/>
            <a:ext cx="10782300" cy="88405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/>
              <a:t>The following objectives define the functional scope and strategic direction of the Hayat unified hospital app.</a:t>
            </a:r>
            <a:endParaRPr lang="ar-SA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1BBFD-08C8-4A9D-48AE-F13E41AC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Project Objectives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2F65B87-7CC0-DCC5-E24B-50D5E42B6778}"/>
              </a:ext>
            </a:extLst>
          </p:cNvPr>
          <p:cNvSpPr/>
          <p:nvPr/>
        </p:nvSpPr>
        <p:spPr>
          <a:xfrm>
            <a:off x="1007851" y="2949406"/>
            <a:ext cx="9604047" cy="731520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Develop a unified mobile healthcare platform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F74A2A9-0A6D-CBE1-9685-800A7677D7EB}"/>
              </a:ext>
            </a:extLst>
          </p:cNvPr>
          <p:cNvSpPr/>
          <p:nvPr/>
        </p:nvSpPr>
        <p:spPr>
          <a:xfrm>
            <a:off x="1007851" y="3807603"/>
            <a:ext cx="9604047" cy="617019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Enable hospital search and appointment booking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6C02090-4248-1BE5-DE98-6BC20AE420F8}"/>
              </a:ext>
            </a:extLst>
          </p:cNvPr>
          <p:cNvSpPr/>
          <p:nvPr/>
        </p:nvSpPr>
        <p:spPr>
          <a:xfrm>
            <a:off x="1007851" y="4542583"/>
            <a:ext cx="9604047" cy="822960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Implement AI-based assistant (Morafiq)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E7374BA-5AD6-657F-FFDF-EAA00D7F2EAB}"/>
              </a:ext>
            </a:extLst>
          </p:cNvPr>
          <p:cNvSpPr/>
          <p:nvPr/>
        </p:nvSpPr>
        <p:spPr>
          <a:xfrm>
            <a:off x="1007851" y="5493878"/>
            <a:ext cx="9604047" cy="822960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Ensure secure access to medical records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2CD55E-0B43-B3C4-A5AA-7D66BF0C2EE2}"/>
              </a:ext>
            </a:extLst>
          </p:cNvPr>
          <p:cNvSpPr/>
          <p:nvPr/>
        </p:nvSpPr>
        <p:spPr>
          <a:xfrm>
            <a:off x="751332" y="2949406"/>
            <a:ext cx="173736" cy="617019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C8E477-B7B3-1179-C9ED-0E7B72DCB8BF}"/>
              </a:ext>
            </a:extLst>
          </p:cNvPr>
          <p:cNvSpPr/>
          <p:nvPr/>
        </p:nvSpPr>
        <p:spPr>
          <a:xfrm>
            <a:off x="686157" y="2949406"/>
            <a:ext cx="9144" cy="617019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330140-7E29-1099-4D59-B5B34EF117A8}"/>
              </a:ext>
            </a:extLst>
          </p:cNvPr>
          <p:cNvSpPr/>
          <p:nvPr/>
        </p:nvSpPr>
        <p:spPr>
          <a:xfrm>
            <a:off x="751332" y="3811923"/>
            <a:ext cx="173736" cy="617019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4F8048-AF11-5580-57C9-E136ADD47A43}"/>
              </a:ext>
            </a:extLst>
          </p:cNvPr>
          <p:cNvSpPr/>
          <p:nvPr/>
        </p:nvSpPr>
        <p:spPr>
          <a:xfrm>
            <a:off x="686157" y="3811923"/>
            <a:ext cx="9144" cy="617019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A0BC69-DECF-5A54-7CFE-E25E87DCB41F}"/>
              </a:ext>
            </a:extLst>
          </p:cNvPr>
          <p:cNvSpPr/>
          <p:nvPr/>
        </p:nvSpPr>
        <p:spPr>
          <a:xfrm>
            <a:off x="751332" y="4661472"/>
            <a:ext cx="173736" cy="617019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689E38-7E86-5D3F-314E-1294764FFDF4}"/>
              </a:ext>
            </a:extLst>
          </p:cNvPr>
          <p:cNvSpPr/>
          <p:nvPr/>
        </p:nvSpPr>
        <p:spPr>
          <a:xfrm>
            <a:off x="686157" y="4661472"/>
            <a:ext cx="9144" cy="617019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7E277C-BBC5-11A6-B349-CEAE2B72BE65}"/>
              </a:ext>
            </a:extLst>
          </p:cNvPr>
          <p:cNvSpPr/>
          <p:nvPr/>
        </p:nvSpPr>
        <p:spPr>
          <a:xfrm>
            <a:off x="751332" y="5610604"/>
            <a:ext cx="173736" cy="617019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E4D5E8-BCDE-D880-0020-0121DE1A2B79}"/>
              </a:ext>
            </a:extLst>
          </p:cNvPr>
          <p:cNvSpPr/>
          <p:nvPr/>
        </p:nvSpPr>
        <p:spPr>
          <a:xfrm>
            <a:off x="686157" y="5610604"/>
            <a:ext cx="9144" cy="617019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97E7F6-8273-18D4-C139-2A0047624B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2E9C5A-755F-9245-ADBC-E43B68FCA9C6}" type="datetime1">
              <a:rPr lang="en-US" smtClean="0"/>
              <a:t>4/22/2026</a:t>
            </a:fld>
            <a:endParaRPr lang="en-SA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29B2F8-073B-CD37-4502-D6B16D67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1510B-1424-234D-B029-9BA8AB7CE4C0}" type="slidenum">
              <a:rPr lang="en-SA" smtClean="0"/>
              <a:pPr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6610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650B0C-CC87-820A-D1B9-749CEB600A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AEAA35-7BF0-A30E-F20B-2DB5F763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l" rtl="0"/>
            <a:r>
              <a:rPr lang="en-US" sz="2400" dirty="0" err="1"/>
              <a:t>Morafiq</a:t>
            </a:r>
            <a:r>
              <a:rPr lang="ar-SA" sz="2000" dirty="0"/>
              <a:t> </a:t>
            </a:r>
            <a:endParaRPr lang="en-SA" sz="2000" dirty="0"/>
          </a:p>
        </p:txBody>
      </p:sp>
      <p:sp>
        <p:nvSpPr>
          <p:cNvPr id="3" name="مستطيل ذو زوايا قطرية مقصوصة 26">
            <a:extLst>
              <a:ext uri="{FF2B5EF4-FFF2-40B4-BE49-F238E27FC236}">
                <a16:creationId xmlns:a16="http://schemas.microsoft.com/office/drawing/2014/main" id="{D2749973-1CC9-376E-B054-FB2FE7D7AF4C}"/>
              </a:ext>
            </a:extLst>
          </p:cNvPr>
          <p:cNvSpPr/>
          <p:nvPr/>
        </p:nvSpPr>
        <p:spPr>
          <a:xfrm>
            <a:off x="2872909" y="1524000"/>
            <a:ext cx="8450087" cy="4478532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B3281"/>
              </a:gs>
              <a:gs pos="100000">
                <a:srgbClr val="11B4E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0" eaLnBrk="1" latinLnBrk="0" hangingPunct="1">
              <a:lnSpc>
                <a:spcPct val="150000"/>
              </a:lnSpc>
            </a:pPr>
            <a:endParaRPr lang="ar-SA" dirty="0">
              <a:solidFill>
                <a:schemeClr val="bg1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FE0A21-B3C8-F4D2-1E74-966E9E053AD5}"/>
              </a:ext>
            </a:extLst>
          </p:cNvPr>
          <p:cNvCxnSpPr>
            <a:cxnSpLocks/>
          </p:cNvCxnSpPr>
          <p:nvPr/>
        </p:nvCxnSpPr>
        <p:spPr>
          <a:xfrm>
            <a:off x="11455941" y="2619984"/>
            <a:ext cx="0" cy="2360579"/>
          </a:xfrm>
          <a:prstGeom prst="line">
            <a:avLst/>
          </a:prstGeom>
          <a:ln w="28575">
            <a:solidFill>
              <a:srgbClr val="11B4E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9DD81D-1EA2-7AA5-2545-81E3FFAB1960}"/>
              </a:ext>
            </a:extLst>
          </p:cNvPr>
          <p:cNvCxnSpPr>
            <a:cxnSpLocks/>
          </p:cNvCxnSpPr>
          <p:nvPr/>
        </p:nvCxnSpPr>
        <p:spPr>
          <a:xfrm>
            <a:off x="4199108" y="1939047"/>
            <a:ext cx="0" cy="3644630"/>
          </a:xfrm>
          <a:prstGeom prst="line">
            <a:avLst/>
          </a:prstGeom>
          <a:ln w="6350">
            <a:solidFill>
              <a:srgbClr val="F3F3F3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FE4361-114A-44D3-DBDB-8946AFE8CAD3}"/>
              </a:ext>
            </a:extLst>
          </p:cNvPr>
          <p:cNvSpPr txBox="1"/>
          <p:nvPr/>
        </p:nvSpPr>
        <p:spPr>
          <a:xfrm>
            <a:off x="4572000" y="1890975"/>
            <a:ext cx="6506185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AI Symptom Assistant – </a:t>
            </a:r>
            <a:r>
              <a:rPr lang="en-US" dirty="0" err="1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Morafiq</a:t>
            </a:r>
            <a:endParaRPr lang="en-US" dirty="0">
              <a:solidFill>
                <a:schemeClr val="bg1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  <a:p>
            <a:pPr rtl="1"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• Reduces patient uncertainty during symptom confusion</a:t>
            </a:r>
          </a:p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• Guides users to appropriate medical specialty</a:t>
            </a:r>
          </a:p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• Improves decision making before booking appointments</a:t>
            </a:r>
          </a:p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• Supports faster response during urgent cases</a:t>
            </a:r>
          </a:p>
          <a:p>
            <a:pPr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• Enhances overall patient experience</a:t>
            </a:r>
          </a:p>
        </p:txBody>
      </p:sp>
      <p:pic>
        <p:nvPicPr>
          <p:cNvPr id="2" name="صورة 2" descr="The Insatiable Hunger of AI: Why Tech Giants Are Chasing Natural Gas ...">
            <a:extLst>
              <a:ext uri="{FF2B5EF4-FFF2-40B4-BE49-F238E27FC236}">
                <a16:creationId xmlns:a16="http://schemas.microsoft.com/office/drawing/2014/main" id="{4A8518C5-58D2-E12B-52D0-DF2976B7B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880" r="12880"/>
          <a:stretch/>
        </p:blipFill>
        <p:spPr>
          <a:xfrm>
            <a:off x="-6485" y="1890975"/>
            <a:ext cx="4169923" cy="3744581"/>
          </a:xfrm>
          <a:prstGeom prst="rect">
            <a:avLst/>
          </a:pr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C973A45-CEBF-E091-AF84-F3737E9FEA6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F1FF410-F7D6-5241-81B5-6C824F9F6EC6}" type="datetime1">
              <a:rPr lang="en-US" smtClean="0"/>
              <a:t>4/22/2026</a:t>
            </a:fld>
            <a:endParaRPr lang="en-SA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E4961EA-F25C-8EB4-E9AB-91D16707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6597E-B038-6F42-8585-15B2E4B21C3A}" type="slidenum">
              <a:rPr lang="en-SA" smtClean="0"/>
              <a:pPr/>
              <a:t>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4488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CD4A-8B5D-EB65-FA3B-5279C8B6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EB0C48EF-07D4-1261-1C5A-080EC4C2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Key Features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F4F7E19-B2FD-1BAD-6876-D8C8F89ECB5A}"/>
              </a:ext>
            </a:extLst>
          </p:cNvPr>
          <p:cNvSpPr/>
          <p:nvPr/>
        </p:nvSpPr>
        <p:spPr>
          <a:xfrm>
            <a:off x="1171353" y="2443083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defTabSz="914400" rtl="1" eaLnBrk="1" latinLnBrk="0" hangingPunct="1">
              <a:lnSpc>
                <a:spcPct val="150000"/>
              </a:lnSpc>
            </a:pPr>
            <a:r>
              <a:rPr lang="en-US" sz="1600" dirty="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Secure Login &amp; Authentication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0239D7-7EE6-0963-1806-ADB9E600E342}"/>
              </a:ext>
            </a:extLst>
          </p:cNvPr>
          <p:cNvSpPr/>
          <p:nvPr/>
        </p:nvSpPr>
        <p:spPr>
          <a:xfrm>
            <a:off x="756523" y="2382035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80A43D-0798-ECB8-B8C7-63D052EC83AD}"/>
              </a:ext>
            </a:extLst>
          </p:cNvPr>
          <p:cNvSpPr/>
          <p:nvPr/>
        </p:nvSpPr>
        <p:spPr>
          <a:xfrm>
            <a:off x="691348" y="2382035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FAFF1-9C37-3A03-4811-AE70DF75F0CF}"/>
              </a:ext>
            </a:extLst>
          </p:cNvPr>
          <p:cNvSpPr txBox="1"/>
          <p:nvPr/>
        </p:nvSpPr>
        <p:spPr>
          <a:xfrm>
            <a:off x="762551" y="2368530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1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1EC585E-7F5F-9DC8-2099-99C088643A85}"/>
              </a:ext>
            </a:extLst>
          </p:cNvPr>
          <p:cNvSpPr/>
          <p:nvPr/>
        </p:nvSpPr>
        <p:spPr>
          <a:xfrm>
            <a:off x="1171353" y="2963866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Hospital Search &amp; Filtering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5A4C03-2535-8D86-9086-4C8B7DB66EC3}"/>
              </a:ext>
            </a:extLst>
          </p:cNvPr>
          <p:cNvSpPr/>
          <p:nvPr/>
        </p:nvSpPr>
        <p:spPr>
          <a:xfrm>
            <a:off x="756523" y="2902818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50F1C-1FD8-CF57-722F-051D07B5535B}"/>
              </a:ext>
            </a:extLst>
          </p:cNvPr>
          <p:cNvSpPr/>
          <p:nvPr/>
        </p:nvSpPr>
        <p:spPr>
          <a:xfrm>
            <a:off x="691348" y="2902818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E31E7-C863-3440-F642-AFAEAF72ADA8}"/>
              </a:ext>
            </a:extLst>
          </p:cNvPr>
          <p:cNvSpPr txBox="1"/>
          <p:nvPr/>
        </p:nvSpPr>
        <p:spPr>
          <a:xfrm>
            <a:off x="762551" y="2889313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2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CC24E2C-061A-5BFA-E5C3-41F19521CC68}"/>
              </a:ext>
            </a:extLst>
          </p:cNvPr>
          <p:cNvSpPr/>
          <p:nvPr/>
        </p:nvSpPr>
        <p:spPr>
          <a:xfrm>
            <a:off x="1171353" y="3466482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Real-time Appointment Booking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B054B3-4FFD-CE4A-0B84-4E2C7AF245A8}"/>
              </a:ext>
            </a:extLst>
          </p:cNvPr>
          <p:cNvSpPr/>
          <p:nvPr/>
        </p:nvSpPr>
        <p:spPr>
          <a:xfrm>
            <a:off x="756523" y="3405434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54B5C4-109E-ED87-CDA4-9E0E0F4A6C16}"/>
              </a:ext>
            </a:extLst>
          </p:cNvPr>
          <p:cNvSpPr/>
          <p:nvPr/>
        </p:nvSpPr>
        <p:spPr>
          <a:xfrm>
            <a:off x="691348" y="3405434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FFC848-2AC5-108E-EBDB-929BE2E99FB0}"/>
              </a:ext>
            </a:extLst>
          </p:cNvPr>
          <p:cNvSpPr txBox="1"/>
          <p:nvPr/>
        </p:nvSpPr>
        <p:spPr>
          <a:xfrm>
            <a:off x="762551" y="3391929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3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A33CC10C-1B47-87A6-EF0F-9564F8F4F0C9}"/>
              </a:ext>
            </a:extLst>
          </p:cNvPr>
          <p:cNvSpPr/>
          <p:nvPr/>
        </p:nvSpPr>
        <p:spPr>
          <a:xfrm>
            <a:off x="1171353" y="3969099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sz="160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Medical Record Access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14E4C3-E2B8-D317-F6F8-0DE587345B61}"/>
              </a:ext>
            </a:extLst>
          </p:cNvPr>
          <p:cNvSpPr/>
          <p:nvPr/>
        </p:nvSpPr>
        <p:spPr>
          <a:xfrm>
            <a:off x="756523" y="3908051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9188D5-FC1B-8D9C-172E-F1FA5645B014}"/>
              </a:ext>
            </a:extLst>
          </p:cNvPr>
          <p:cNvSpPr/>
          <p:nvPr/>
        </p:nvSpPr>
        <p:spPr>
          <a:xfrm>
            <a:off x="691348" y="3908051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579FF5-7971-D19B-D399-63DFEE48BA17}"/>
              </a:ext>
            </a:extLst>
          </p:cNvPr>
          <p:cNvSpPr txBox="1"/>
          <p:nvPr/>
        </p:nvSpPr>
        <p:spPr>
          <a:xfrm>
            <a:off x="762551" y="3894546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336F94-FCDC-8A8B-7E06-8F45B9A4F3B3}"/>
              </a:ext>
            </a:extLst>
          </p:cNvPr>
          <p:cNvSpPr/>
          <p:nvPr/>
        </p:nvSpPr>
        <p:spPr>
          <a:xfrm>
            <a:off x="756523" y="4416723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1323C9-F4ED-F053-94BE-D77628A6733B}"/>
              </a:ext>
            </a:extLst>
          </p:cNvPr>
          <p:cNvSpPr/>
          <p:nvPr/>
        </p:nvSpPr>
        <p:spPr>
          <a:xfrm>
            <a:off x="691348" y="4416723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095993-EBBA-2A71-1DC1-E67DB250FDBA}"/>
              </a:ext>
            </a:extLst>
          </p:cNvPr>
          <p:cNvSpPr txBox="1"/>
          <p:nvPr/>
        </p:nvSpPr>
        <p:spPr>
          <a:xfrm>
            <a:off x="762551" y="4403218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5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01D903C5-BE9A-B164-B230-164AFABD7BA9}"/>
              </a:ext>
            </a:extLst>
          </p:cNvPr>
          <p:cNvSpPr/>
          <p:nvPr/>
        </p:nvSpPr>
        <p:spPr>
          <a:xfrm>
            <a:off x="1171353" y="4981569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defTabSz="914400" rtl="1" eaLnBrk="1" latinLnBrk="0" hangingPunct="1">
              <a:lnSpc>
                <a:spcPct val="150000"/>
              </a:lnSpc>
            </a:pPr>
            <a:r>
              <a:rPr lang="en-US" sz="1600" dirty="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Prescription &amp; Allergy Tracking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DF9DE2-96D2-5C81-EFF5-9F173118AC86}"/>
              </a:ext>
            </a:extLst>
          </p:cNvPr>
          <p:cNvSpPr/>
          <p:nvPr/>
        </p:nvSpPr>
        <p:spPr>
          <a:xfrm>
            <a:off x="756523" y="4920521"/>
            <a:ext cx="266408" cy="432442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AA4DAB-0586-F18F-DAB3-DC9B4185753A}"/>
              </a:ext>
            </a:extLst>
          </p:cNvPr>
          <p:cNvSpPr/>
          <p:nvPr/>
        </p:nvSpPr>
        <p:spPr>
          <a:xfrm>
            <a:off x="691348" y="4920521"/>
            <a:ext cx="9144" cy="432442"/>
          </a:xfrm>
          <a:prstGeom prst="rect">
            <a:avLst/>
          </a:prstGeom>
          <a:solidFill>
            <a:srgbClr val="9BD5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BB2D00-70B8-D96A-0D27-0B9F27BF0E6D}"/>
              </a:ext>
            </a:extLst>
          </p:cNvPr>
          <p:cNvSpPr txBox="1"/>
          <p:nvPr/>
        </p:nvSpPr>
        <p:spPr>
          <a:xfrm>
            <a:off x="762551" y="4907016"/>
            <a:ext cx="105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ST Arabic Light" panose="020B0304030504020204" pitchFamily="34" charset="-78"/>
                <a:cs typeface="SST Arabic Light" panose="020B0304030504020204" pitchFamily="34" charset="-78"/>
              </a:rPr>
              <a:t>6</a:t>
            </a:r>
          </a:p>
        </p:txBody>
      </p:sp>
      <p:sp>
        <p:nvSpPr>
          <p:cNvPr id="3" name="مربع نص 3">
            <a:extLst>
              <a:ext uri="{FF2B5EF4-FFF2-40B4-BE49-F238E27FC236}">
                <a16:creationId xmlns:a16="http://schemas.microsoft.com/office/drawing/2014/main" id="{A6DFD56E-225F-4716-41CF-CF3608E38EA2}"/>
              </a:ext>
            </a:extLst>
          </p:cNvPr>
          <p:cNvSpPr txBox="1"/>
          <p:nvPr/>
        </p:nvSpPr>
        <p:spPr>
          <a:xfrm>
            <a:off x="1288408" y="2409281"/>
            <a:ext cx="9446068" cy="38326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SST Arabic Medium" panose="020B0604030504020204" pitchFamily="34" charset="-78"/>
                <a:cs typeface="SST Arabic Medium" panose="020B0604030504020204" pitchFamily="34" charset="-7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1200"/>
              </a:spcBef>
            </a:pPr>
            <a:endParaRPr lang="en-GB" sz="15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D148BD0-F3D1-70EA-B34B-92E674239ED5}"/>
              </a:ext>
            </a:extLst>
          </p:cNvPr>
          <p:cNvSpPr/>
          <p:nvPr/>
        </p:nvSpPr>
        <p:spPr>
          <a:xfrm>
            <a:off x="1171353" y="4471345"/>
            <a:ext cx="9604047" cy="428064"/>
          </a:xfrm>
          <a:custGeom>
            <a:avLst/>
            <a:gdLst>
              <a:gd name="connsiteX0" fmla="*/ 0 w 9255865"/>
              <a:gd name="connsiteY0" fmla="*/ 0 h 692179"/>
              <a:gd name="connsiteX1" fmla="*/ 9255865 w 9255865"/>
              <a:gd name="connsiteY1" fmla="*/ 0 h 692179"/>
              <a:gd name="connsiteX2" fmla="*/ 9255865 w 9255865"/>
              <a:gd name="connsiteY2" fmla="*/ 692179 h 692179"/>
              <a:gd name="connsiteX3" fmla="*/ 0 w 9255865"/>
              <a:gd name="connsiteY3" fmla="*/ 692179 h 692179"/>
              <a:gd name="connsiteX4" fmla="*/ 0 w 9255865"/>
              <a:gd name="connsiteY4" fmla="*/ 0 h 692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5865" h="692179">
                <a:moveTo>
                  <a:pt x="0" y="0"/>
                </a:moveTo>
                <a:lnTo>
                  <a:pt x="9255865" y="0"/>
                </a:lnTo>
                <a:lnTo>
                  <a:pt x="9255865" y="692179"/>
                </a:lnTo>
                <a:lnTo>
                  <a:pt x="0" y="69217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BD5EB">
                  <a:alpha val="30916"/>
                  <a:lumMod val="80000"/>
                  <a:lumOff val="20000"/>
                </a:srgbClr>
              </a:gs>
              <a:gs pos="100000">
                <a:srgbClr val="9BD5EB">
                  <a:alpha val="17000"/>
                  <a:lumMod val="74566"/>
                  <a:lumOff val="25434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defTabSz="914400" rtl="1" eaLnBrk="1" latinLnBrk="0" hangingPunct="1">
              <a:lnSpc>
                <a:spcPct val="150000"/>
              </a:lnSpc>
            </a:pPr>
            <a:r>
              <a:rPr lang="en-US" sz="1600" dirty="0">
                <a:solidFill>
                  <a:srgbClr val="1A428A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AI-based Doctor Recommendation</a:t>
            </a:r>
            <a:endParaRPr lang="ar-SA" sz="1600" dirty="0">
              <a:solidFill>
                <a:srgbClr val="1A428A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6662C23-A20D-B1C2-D2FA-233EB2E3D01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207BBD5-4FF9-CE45-BB6F-F78A3D0B53C2}" type="datetime1">
              <a:rPr lang="en-US" smtClean="0"/>
              <a:t>4/22/2026</a:t>
            </a:fld>
            <a:endParaRPr lang="en-SA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50D2914-BC67-B5B7-0550-31695F2B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6597E-B038-6F42-8585-15B2E4B21C3A}" type="slidenum">
              <a:rPr lang="en-SA" smtClean="0"/>
              <a:pPr/>
              <a:t>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1807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1332-0544-4C24-DF7D-1A79B5BB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A2E672-D8A4-0966-6CD8-C795959039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sz="1400" dirty="0"/>
              <a:t>• Patient enters symptoms</a:t>
            </a:r>
          </a:p>
          <a:p>
            <a:pPr marL="0" indent="0" algn="l" rtl="0">
              <a:buNone/>
            </a:pPr>
            <a:br>
              <a:rPr lang="en-US" sz="1400" dirty="0"/>
            </a:br>
            <a:r>
              <a:rPr lang="en-US" sz="1400" dirty="0"/>
              <a:t>• Backend triggers n8n workflow</a:t>
            </a:r>
          </a:p>
          <a:p>
            <a:pPr marL="0" indent="0" algn="l" rtl="0">
              <a:buNone/>
            </a:pPr>
            <a:br>
              <a:rPr lang="en-US" sz="1400" dirty="0"/>
            </a:br>
            <a:r>
              <a:rPr lang="en-US" sz="1400" dirty="0"/>
              <a:t>• AI analyzes symptom patterns</a:t>
            </a:r>
          </a:p>
          <a:p>
            <a:pPr marL="0" indent="0" algn="l" rtl="0">
              <a:buNone/>
            </a:pPr>
            <a:br>
              <a:rPr lang="en-US" sz="1400" dirty="0"/>
            </a:br>
            <a:r>
              <a:rPr lang="en-US" sz="1400" dirty="0"/>
              <a:t>• Recommended doctor/specialty returned</a:t>
            </a:r>
          </a:p>
          <a:p>
            <a:pPr marL="0" indent="0" algn="l" rtl="0">
              <a:buNone/>
            </a:pPr>
            <a:br>
              <a:rPr lang="en-US" sz="1400" dirty="0"/>
            </a:br>
            <a:r>
              <a:rPr lang="en-US" sz="1400" dirty="0"/>
              <a:t>• Results displayed in app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4BA5B0-4F10-C402-F279-E9FF05F3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l" rtl="0"/>
            <a:r>
              <a:rPr lang="en-US" sz="2000" dirty="0"/>
              <a:t>AI-Integrated Healthcare Architecture</a:t>
            </a:r>
            <a:endParaRPr lang="en-SA" sz="2000" dirty="0"/>
          </a:p>
        </p:txBody>
      </p:sp>
      <p:sp>
        <p:nvSpPr>
          <p:cNvPr id="2" name="مستطيل ذو زوايا قطرية مقصوصة 26">
            <a:extLst>
              <a:ext uri="{FF2B5EF4-FFF2-40B4-BE49-F238E27FC236}">
                <a16:creationId xmlns:a16="http://schemas.microsoft.com/office/drawing/2014/main" id="{B6EC138D-2B1B-8583-4B39-984D72BBDA90}"/>
              </a:ext>
            </a:extLst>
          </p:cNvPr>
          <p:cNvSpPr/>
          <p:nvPr/>
        </p:nvSpPr>
        <p:spPr>
          <a:xfrm>
            <a:off x="4198502" y="2548445"/>
            <a:ext cx="6866106" cy="260721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B3281"/>
              </a:gs>
              <a:gs pos="100000">
                <a:srgbClr val="11B4E6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SST Arabic Medium" panose="020B0504030504020204" pitchFamily="34" charset="-78"/>
                <a:cs typeface="SST Arabic Medium" panose="020B0504030504020204" pitchFamily="34" charset="-78"/>
              </a:rPr>
              <a:t>Sample Text</a:t>
            </a:r>
            <a:endParaRPr lang="ar-SA" dirty="0">
              <a:solidFill>
                <a:schemeClr val="bg1"/>
              </a:solidFill>
              <a:latin typeface="SST Arabic Medium" panose="020B0504030504020204" pitchFamily="34" charset="-78"/>
              <a:cs typeface="SST Arabic Medium" panose="020B0504030504020204" pitchFamily="34" charset="-7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57CCBD-69EE-0938-D681-D33E25199498}"/>
              </a:ext>
            </a:extLst>
          </p:cNvPr>
          <p:cNvCxnSpPr>
            <a:cxnSpLocks/>
          </p:cNvCxnSpPr>
          <p:nvPr/>
        </p:nvCxnSpPr>
        <p:spPr>
          <a:xfrm>
            <a:off x="11205659" y="2697805"/>
            <a:ext cx="0" cy="2360579"/>
          </a:xfrm>
          <a:prstGeom prst="line">
            <a:avLst/>
          </a:prstGeom>
          <a:ln w="28575">
            <a:solidFill>
              <a:srgbClr val="1B328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9DF7F6-8BEE-C770-2A16-91B11D785954}"/>
              </a:ext>
            </a:extLst>
          </p:cNvPr>
          <p:cNvCxnSpPr>
            <a:cxnSpLocks/>
          </p:cNvCxnSpPr>
          <p:nvPr/>
        </p:nvCxnSpPr>
        <p:spPr>
          <a:xfrm>
            <a:off x="4052587" y="2697805"/>
            <a:ext cx="0" cy="2360579"/>
          </a:xfrm>
          <a:prstGeom prst="line">
            <a:avLst/>
          </a:prstGeom>
          <a:ln w="28575">
            <a:solidFill>
              <a:srgbClr val="1B328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3F59D2E-8FDB-3668-B029-3F882D0D3C6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487AEF9-2884-BD46-A41E-77C2DBD6B77F}" type="datetime1">
              <a:rPr lang="en-US" smtClean="0"/>
              <a:t>4/22/2026</a:t>
            </a:fld>
            <a:endParaRPr lang="en-SA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64FA6B6-2A0A-6146-DEDF-5E84EC15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6597E-B038-6F42-8585-15B2E4B21C3A}" type="slidenum">
              <a:rPr lang="en-SA" smtClean="0"/>
              <a:pPr/>
              <a:t>6</a:t>
            </a:fld>
            <a:endParaRPr lang="en-S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E44389-C8B3-9D58-325E-C044F5BF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638" y="2548446"/>
            <a:ext cx="6892455" cy="260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4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9FB0-A1A8-AE7B-65BF-3D9D52CF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0D09C4C-0683-692A-5271-5520BC49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40" y="947987"/>
            <a:ext cx="10789609" cy="873228"/>
          </a:xfrm>
        </p:spPr>
        <p:txBody>
          <a:bodyPr/>
          <a:lstStyle/>
          <a:p>
            <a:pPr algn="l" rtl="0"/>
            <a:r>
              <a:rPr lang="en-US" dirty="0">
                <a:latin typeface="Somar Sans SemiBold" panose="00000700000000000000" pitchFamily="50" charset="-78"/>
                <a:cs typeface="Somar Sans SemiBold" panose="00000700000000000000" pitchFamily="50" charset="-78"/>
              </a:rPr>
              <a:t>System Components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8D0DFAAD-2B78-1D6B-AE54-8F7E7D1DBB1B}"/>
              </a:ext>
            </a:extLst>
          </p:cNvPr>
          <p:cNvSpPr/>
          <p:nvPr/>
        </p:nvSpPr>
        <p:spPr>
          <a:xfrm>
            <a:off x="2847151" y="2001952"/>
            <a:ext cx="8422306" cy="754062"/>
          </a:xfrm>
          <a:custGeom>
            <a:avLst/>
            <a:gdLst>
              <a:gd name="connsiteX0" fmla="*/ 95345 w 572061"/>
              <a:gd name="connsiteY0" fmla="*/ 0 h 5696679"/>
              <a:gd name="connsiteX1" fmla="*/ 476716 w 572061"/>
              <a:gd name="connsiteY1" fmla="*/ 0 h 5696679"/>
              <a:gd name="connsiteX2" fmla="*/ 572061 w 572061"/>
              <a:gd name="connsiteY2" fmla="*/ 95345 h 5696679"/>
              <a:gd name="connsiteX3" fmla="*/ 572061 w 572061"/>
              <a:gd name="connsiteY3" fmla="*/ 5696679 h 5696679"/>
              <a:gd name="connsiteX4" fmla="*/ 572061 w 572061"/>
              <a:gd name="connsiteY4" fmla="*/ 5696679 h 5696679"/>
              <a:gd name="connsiteX5" fmla="*/ 0 w 572061"/>
              <a:gd name="connsiteY5" fmla="*/ 5696679 h 5696679"/>
              <a:gd name="connsiteX6" fmla="*/ 0 w 572061"/>
              <a:gd name="connsiteY6" fmla="*/ 5696679 h 5696679"/>
              <a:gd name="connsiteX7" fmla="*/ 0 w 572061"/>
              <a:gd name="connsiteY7" fmla="*/ 95345 h 5696679"/>
              <a:gd name="connsiteX8" fmla="*/ 95345 w 572061"/>
              <a:gd name="connsiteY8" fmla="*/ 0 h 569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2061" h="5696679">
                <a:moveTo>
                  <a:pt x="0" y="4747214"/>
                </a:moveTo>
                <a:lnTo>
                  <a:pt x="0" y="949465"/>
                </a:lnTo>
                <a:cubicBezTo>
                  <a:pt x="0" y="425089"/>
                  <a:pt x="4287" y="5"/>
                  <a:pt x="9575" y="5"/>
                </a:cubicBezTo>
                <a:lnTo>
                  <a:pt x="572061" y="5"/>
                </a:lnTo>
                <a:lnTo>
                  <a:pt x="572061" y="5"/>
                </a:lnTo>
                <a:lnTo>
                  <a:pt x="572061" y="5696674"/>
                </a:lnTo>
                <a:lnTo>
                  <a:pt x="572061" y="5696674"/>
                </a:lnTo>
                <a:lnTo>
                  <a:pt x="9575" y="5696674"/>
                </a:lnTo>
                <a:cubicBezTo>
                  <a:pt x="4287" y="5696674"/>
                  <a:pt x="0" y="5271590"/>
                  <a:pt x="0" y="4747214"/>
                </a:cubicBezTo>
                <a:close/>
              </a:path>
            </a:pathLst>
          </a:custGeom>
          <a:ln>
            <a:noFill/>
          </a:ln>
        </p:spPr>
        <p:style>
          <a:lnRef idx="2">
            <a:scrgbClr r="0" g="0" b="0"/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5576" tIns="151751" rIns="0" bIns="151751" numCol="1" spcCol="1270" anchor="ctr" anchorCtr="0">
            <a:noAutofit/>
          </a:bodyPr>
          <a:lstStyle/>
          <a:p>
            <a:pPr marL="114300" lvl="1" indent="0" defTabSz="622300"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kern="1200">
                <a:solidFill>
                  <a:srgbClr val="193079"/>
                </a:solidFill>
                <a:latin typeface="SST Arabic" panose="020B0504030504020204" pitchFamily="34" charset="-78"/>
                <a:ea typeface="+mn-ea"/>
                <a:cs typeface="SST Arabic" panose="020B0504030504020204" pitchFamily="34" charset="-78"/>
              </a:rPr>
              <a:t>Provides patient interface for hospital search, appointment booking, and symptom input.</a:t>
            </a:r>
            <a:endParaRPr lang="en-US" sz="1400" kern="1200" dirty="0">
              <a:solidFill>
                <a:srgbClr val="193079"/>
              </a:solidFill>
              <a:latin typeface="SST Arabic" panose="020B0504030504020204" pitchFamily="34" charset="-78"/>
              <a:ea typeface="+mn-ea"/>
              <a:cs typeface="SST Arabic" panose="020B0504030504020204" pitchFamily="34" charset="-78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201B4F-A065-8F74-3C33-B3687D584528}"/>
              </a:ext>
            </a:extLst>
          </p:cNvPr>
          <p:cNvGrpSpPr/>
          <p:nvPr/>
        </p:nvGrpSpPr>
        <p:grpSpPr>
          <a:xfrm>
            <a:off x="500535" y="2083496"/>
            <a:ext cx="2409800" cy="590974"/>
            <a:chOff x="8944000" y="3039294"/>
            <a:chExt cx="2409800" cy="590974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343EA9A-85D6-DC46-D283-13B0E874AAE6}"/>
                </a:ext>
              </a:extLst>
            </p:cNvPr>
            <p:cNvSpPr/>
            <p:nvPr/>
          </p:nvSpPr>
          <p:spPr>
            <a:xfrm>
              <a:off x="9022805" y="3039294"/>
              <a:ext cx="2330995" cy="590974"/>
            </a:xfrm>
            <a:custGeom>
              <a:avLst/>
              <a:gdLst>
                <a:gd name="connsiteX0" fmla="*/ 0 w 2330995"/>
                <a:gd name="connsiteY0" fmla="*/ 0 h 590974"/>
                <a:gd name="connsiteX1" fmla="*/ 2330995 w 2330995"/>
                <a:gd name="connsiteY1" fmla="*/ 0 h 590974"/>
                <a:gd name="connsiteX2" fmla="*/ 2330995 w 2330995"/>
                <a:gd name="connsiteY2" fmla="*/ 590974 h 590974"/>
                <a:gd name="connsiteX3" fmla="*/ 0 w 2330995"/>
                <a:gd name="connsiteY3" fmla="*/ 590974 h 590974"/>
                <a:gd name="connsiteX4" fmla="*/ 0 w 2330995"/>
                <a:gd name="connsiteY4" fmla="*/ 0 h 5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0995" h="590974">
                  <a:moveTo>
                    <a:pt x="0" y="0"/>
                  </a:moveTo>
                  <a:lnTo>
                    <a:pt x="2330995" y="0"/>
                  </a:lnTo>
                  <a:lnTo>
                    <a:pt x="2330995" y="590974"/>
                  </a:lnTo>
                  <a:lnTo>
                    <a:pt x="0" y="59097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002465"/>
                </a:gs>
                <a:gs pos="100000">
                  <a:srgbClr val="002465">
                    <a:alpha val="85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>
                  <a:solidFill>
                    <a:prstClr val="white"/>
                  </a:solidFill>
                  <a:latin typeface="SST Arabic" panose="020B0504030504020204" pitchFamily="34" charset="-78"/>
                  <a:ea typeface="+mn-ea"/>
                  <a:cs typeface="SST Arabic" panose="020B0504030504020204" pitchFamily="34" charset="-78"/>
                </a:rPr>
                <a:t>Mobile Application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4F7F323-D425-60B7-F0EC-01771E7B96AA}"/>
                </a:ext>
              </a:extLst>
            </p:cNvPr>
            <p:cNvCxnSpPr/>
            <p:nvPr/>
          </p:nvCxnSpPr>
          <p:spPr>
            <a:xfrm>
              <a:off x="8944000" y="3108836"/>
              <a:ext cx="0" cy="462988"/>
            </a:xfrm>
            <a:prstGeom prst="line">
              <a:avLst/>
            </a:prstGeom>
            <a:ln>
              <a:solidFill>
                <a:srgbClr val="05BB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5515E0C-B5AD-24FA-BFE4-CA65DB5DC103}"/>
              </a:ext>
            </a:extLst>
          </p:cNvPr>
          <p:cNvGrpSpPr/>
          <p:nvPr/>
        </p:nvGrpSpPr>
        <p:grpSpPr>
          <a:xfrm>
            <a:off x="500535" y="2808765"/>
            <a:ext cx="2409800" cy="590974"/>
            <a:chOff x="8944000" y="3690352"/>
            <a:chExt cx="2409800" cy="590974"/>
          </a:xfrm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151268E-6400-AB7C-A4F6-1F8820DCE298}"/>
                </a:ext>
              </a:extLst>
            </p:cNvPr>
            <p:cNvSpPr/>
            <p:nvPr/>
          </p:nvSpPr>
          <p:spPr>
            <a:xfrm>
              <a:off x="9022805" y="3690352"/>
              <a:ext cx="2330995" cy="590974"/>
            </a:xfrm>
            <a:custGeom>
              <a:avLst/>
              <a:gdLst>
                <a:gd name="connsiteX0" fmla="*/ 0 w 2330995"/>
                <a:gd name="connsiteY0" fmla="*/ 0 h 590974"/>
                <a:gd name="connsiteX1" fmla="*/ 2330995 w 2330995"/>
                <a:gd name="connsiteY1" fmla="*/ 0 h 590974"/>
                <a:gd name="connsiteX2" fmla="*/ 2330995 w 2330995"/>
                <a:gd name="connsiteY2" fmla="*/ 590974 h 590974"/>
                <a:gd name="connsiteX3" fmla="*/ 0 w 2330995"/>
                <a:gd name="connsiteY3" fmla="*/ 590974 h 590974"/>
                <a:gd name="connsiteX4" fmla="*/ 0 w 2330995"/>
                <a:gd name="connsiteY4" fmla="*/ 0 h 5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0995" h="590974">
                  <a:moveTo>
                    <a:pt x="0" y="0"/>
                  </a:moveTo>
                  <a:lnTo>
                    <a:pt x="2330995" y="0"/>
                  </a:lnTo>
                  <a:lnTo>
                    <a:pt x="2330995" y="590974"/>
                  </a:lnTo>
                  <a:lnTo>
                    <a:pt x="0" y="59097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002465"/>
                </a:gs>
                <a:gs pos="100000">
                  <a:srgbClr val="002465">
                    <a:alpha val="85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white"/>
                  </a:solidFill>
                  <a:latin typeface="SST Arabic" panose="020B0504030504020204" pitchFamily="34" charset="-78"/>
                  <a:cs typeface="SST Arabic" panose="020B0504030504020204" pitchFamily="34" charset="-78"/>
                </a:rPr>
                <a:t>Backend Server</a:t>
              </a:r>
              <a:endParaRPr lang="ar-SA" sz="1600" b="1" dirty="0">
                <a:solidFill>
                  <a:prstClr val="white"/>
                </a:solidFill>
                <a:latin typeface="SST Arabic" panose="020B0504030504020204" pitchFamily="34" charset="-78"/>
                <a:cs typeface="SST Arabic" panose="020B0504030504020204" pitchFamily="34" charset="-78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F3C04C-D7E7-AB9D-4FB4-DF3795974D21}"/>
                </a:ext>
              </a:extLst>
            </p:cNvPr>
            <p:cNvCxnSpPr/>
            <p:nvPr/>
          </p:nvCxnSpPr>
          <p:spPr>
            <a:xfrm>
              <a:off x="8944000" y="3759894"/>
              <a:ext cx="0" cy="462988"/>
            </a:xfrm>
            <a:prstGeom prst="line">
              <a:avLst/>
            </a:prstGeom>
            <a:ln>
              <a:solidFill>
                <a:srgbClr val="05BB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F71257F-CC2B-1ADC-C166-D93FEBD03B8C}"/>
              </a:ext>
            </a:extLst>
          </p:cNvPr>
          <p:cNvGrpSpPr/>
          <p:nvPr/>
        </p:nvGrpSpPr>
        <p:grpSpPr>
          <a:xfrm>
            <a:off x="500535" y="3534034"/>
            <a:ext cx="2409800" cy="590974"/>
            <a:chOff x="8944000" y="4341410"/>
            <a:chExt cx="2409800" cy="590974"/>
          </a:xfrm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787EE76-DCDE-ACAD-AA8A-B161485C6CC7}"/>
                </a:ext>
              </a:extLst>
            </p:cNvPr>
            <p:cNvSpPr/>
            <p:nvPr/>
          </p:nvSpPr>
          <p:spPr>
            <a:xfrm>
              <a:off x="9022805" y="4341410"/>
              <a:ext cx="2330995" cy="590974"/>
            </a:xfrm>
            <a:custGeom>
              <a:avLst/>
              <a:gdLst>
                <a:gd name="connsiteX0" fmla="*/ 0 w 2330995"/>
                <a:gd name="connsiteY0" fmla="*/ 0 h 590974"/>
                <a:gd name="connsiteX1" fmla="*/ 2330995 w 2330995"/>
                <a:gd name="connsiteY1" fmla="*/ 0 h 590974"/>
                <a:gd name="connsiteX2" fmla="*/ 2330995 w 2330995"/>
                <a:gd name="connsiteY2" fmla="*/ 590974 h 590974"/>
                <a:gd name="connsiteX3" fmla="*/ 0 w 2330995"/>
                <a:gd name="connsiteY3" fmla="*/ 590974 h 590974"/>
                <a:gd name="connsiteX4" fmla="*/ 0 w 2330995"/>
                <a:gd name="connsiteY4" fmla="*/ 0 h 5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0995" h="590974">
                  <a:moveTo>
                    <a:pt x="0" y="0"/>
                  </a:moveTo>
                  <a:lnTo>
                    <a:pt x="2330995" y="0"/>
                  </a:lnTo>
                  <a:lnTo>
                    <a:pt x="2330995" y="590974"/>
                  </a:lnTo>
                  <a:lnTo>
                    <a:pt x="0" y="59097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002465"/>
                </a:gs>
                <a:gs pos="100000">
                  <a:srgbClr val="002465">
                    <a:alpha val="85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34290" rIns="68580" bIns="34290" numCol="1" spcCol="1270" anchor="ctr" anchorCtr="0">
              <a:noAutofit/>
            </a:bodyPr>
            <a:lstStyle/>
            <a:p>
              <a:pPr lvl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white"/>
                  </a:solidFill>
                  <a:latin typeface="SST Arabic" panose="020B0504030504020204" pitchFamily="34" charset="-78"/>
                  <a:cs typeface="SST Arabic" panose="020B0504030504020204" pitchFamily="34" charset="-78"/>
                </a:rPr>
                <a:t>AI &amp; Integration Layer</a:t>
              </a:r>
              <a:endParaRPr lang="ar-SA" sz="1600" b="1" dirty="0">
                <a:solidFill>
                  <a:prstClr val="white"/>
                </a:solidFill>
                <a:latin typeface="SST Arabic" panose="020B0504030504020204" pitchFamily="34" charset="-78"/>
                <a:cs typeface="SST Arabic" panose="020B0504030504020204" pitchFamily="34" charset="-78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9DD093A-720B-1D5C-DB7A-3795E4AEFB8F}"/>
                </a:ext>
              </a:extLst>
            </p:cNvPr>
            <p:cNvCxnSpPr/>
            <p:nvPr/>
          </p:nvCxnSpPr>
          <p:spPr>
            <a:xfrm>
              <a:off x="8944000" y="4410952"/>
              <a:ext cx="0" cy="462988"/>
            </a:xfrm>
            <a:prstGeom prst="line">
              <a:avLst/>
            </a:prstGeom>
            <a:ln>
              <a:solidFill>
                <a:srgbClr val="05BB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2526458-72DA-6BBC-1975-63093E4D318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7A4176-D3FF-4D42-9C52-CB1806F5DE03}" type="datetime1">
              <a:rPr lang="en-US" smtClean="0"/>
              <a:t>4/22/2026</a:t>
            </a:fld>
            <a:endParaRPr lang="en-SA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B258635-56B7-529B-8215-E0A896F0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6597E-B038-6F42-8585-15B2E4B21C3A}" type="slidenum">
              <a:rPr lang="en-SA" smtClean="0"/>
              <a:pPr/>
              <a:t>7</a:t>
            </a:fld>
            <a:endParaRPr lang="en-SA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D97029A9-2037-2ECC-A15E-DB8F0126C128}"/>
              </a:ext>
            </a:extLst>
          </p:cNvPr>
          <p:cNvSpPr/>
          <p:nvPr/>
        </p:nvSpPr>
        <p:spPr>
          <a:xfrm>
            <a:off x="2989139" y="2756014"/>
            <a:ext cx="8422306" cy="754062"/>
          </a:xfrm>
          <a:custGeom>
            <a:avLst/>
            <a:gdLst>
              <a:gd name="connsiteX0" fmla="*/ 95345 w 572061"/>
              <a:gd name="connsiteY0" fmla="*/ 0 h 5696679"/>
              <a:gd name="connsiteX1" fmla="*/ 476716 w 572061"/>
              <a:gd name="connsiteY1" fmla="*/ 0 h 5696679"/>
              <a:gd name="connsiteX2" fmla="*/ 572061 w 572061"/>
              <a:gd name="connsiteY2" fmla="*/ 95345 h 5696679"/>
              <a:gd name="connsiteX3" fmla="*/ 572061 w 572061"/>
              <a:gd name="connsiteY3" fmla="*/ 5696679 h 5696679"/>
              <a:gd name="connsiteX4" fmla="*/ 572061 w 572061"/>
              <a:gd name="connsiteY4" fmla="*/ 5696679 h 5696679"/>
              <a:gd name="connsiteX5" fmla="*/ 0 w 572061"/>
              <a:gd name="connsiteY5" fmla="*/ 5696679 h 5696679"/>
              <a:gd name="connsiteX6" fmla="*/ 0 w 572061"/>
              <a:gd name="connsiteY6" fmla="*/ 5696679 h 5696679"/>
              <a:gd name="connsiteX7" fmla="*/ 0 w 572061"/>
              <a:gd name="connsiteY7" fmla="*/ 95345 h 5696679"/>
              <a:gd name="connsiteX8" fmla="*/ 95345 w 572061"/>
              <a:gd name="connsiteY8" fmla="*/ 0 h 569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2061" h="5696679">
                <a:moveTo>
                  <a:pt x="0" y="4747214"/>
                </a:moveTo>
                <a:lnTo>
                  <a:pt x="0" y="949465"/>
                </a:lnTo>
                <a:cubicBezTo>
                  <a:pt x="0" y="425089"/>
                  <a:pt x="4287" y="5"/>
                  <a:pt x="9575" y="5"/>
                </a:cubicBezTo>
                <a:lnTo>
                  <a:pt x="572061" y="5"/>
                </a:lnTo>
                <a:lnTo>
                  <a:pt x="572061" y="5"/>
                </a:lnTo>
                <a:lnTo>
                  <a:pt x="572061" y="5696674"/>
                </a:lnTo>
                <a:lnTo>
                  <a:pt x="572061" y="5696674"/>
                </a:lnTo>
                <a:lnTo>
                  <a:pt x="9575" y="5696674"/>
                </a:lnTo>
                <a:cubicBezTo>
                  <a:pt x="4287" y="5696674"/>
                  <a:pt x="0" y="5271590"/>
                  <a:pt x="0" y="4747214"/>
                </a:cubicBezTo>
                <a:close/>
              </a:path>
            </a:pathLst>
          </a:custGeom>
          <a:ln>
            <a:noFill/>
          </a:ln>
        </p:spPr>
        <p:style>
          <a:lnRef idx="2">
            <a:scrgbClr r="0" g="0" b="0"/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5576" tIns="151751" rIns="0" bIns="151751" numCol="1" spcCol="1270" anchor="ctr" anchorCtr="0">
            <a:noAutofit/>
          </a:bodyPr>
          <a:lstStyle/>
          <a:p>
            <a:pPr marL="114300" lvl="1" indent="0" defTabSz="622300"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kern="1200" dirty="0">
                <a:solidFill>
                  <a:srgbClr val="193079"/>
                </a:solidFill>
                <a:latin typeface="SST Arabic" panose="020B0504030504020204" pitchFamily="34" charset="-78"/>
                <a:ea typeface="+mn-ea"/>
                <a:cs typeface="SST Arabic" panose="020B0504030504020204" pitchFamily="34" charset="-78"/>
              </a:rPr>
              <a:t>Handles authentication, business logic, and communication with hospital APIs.</a:t>
            </a:r>
          </a:p>
        </p:txBody>
      </p:sp>
      <p:sp>
        <p:nvSpPr>
          <p:cNvPr id="5" name="Freeform 29">
            <a:extLst>
              <a:ext uri="{FF2B5EF4-FFF2-40B4-BE49-F238E27FC236}">
                <a16:creationId xmlns:a16="http://schemas.microsoft.com/office/drawing/2014/main" id="{82862855-5638-26C4-3D9C-88BB9BB72B4A}"/>
              </a:ext>
            </a:extLst>
          </p:cNvPr>
          <p:cNvSpPr/>
          <p:nvPr/>
        </p:nvSpPr>
        <p:spPr>
          <a:xfrm>
            <a:off x="2989139" y="3425089"/>
            <a:ext cx="8422306" cy="754062"/>
          </a:xfrm>
          <a:custGeom>
            <a:avLst/>
            <a:gdLst>
              <a:gd name="connsiteX0" fmla="*/ 95345 w 572061"/>
              <a:gd name="connsiteY0" fmla="*/ 0 h 5696679"/>
              <a:gd name="connsiteX1" fmla="*/ 476716 w 572061"/>
              <a:gd name="connsiteY1" fmla="*/ 0 h 5696679"/>
              <a:gd name="connsiteX2" fmla="*/ 572061 w 572061"/>
              <a:gd name="connsiteY2" fmla="*/ 95345 h 5696679"/>
              <a:gd name="connsiteX3" fmla="*/ 572061 w 572061"/>
              <a:gd name="connsiteY3" fmla="*/ 5696679 h 5696679"/>
              <a:gd name="connsiteX4" fmla="*/ 572061 w 572061"/>
              <a:gd name="connsiteY4" fmla="*/ 5696679 h 5696679"/>
              <a:gd name="connsiteX5" fmla="*/ 0 w 572061"/>
              <a:gd name="connsiteY5" fmla="*/ 5696679 h 5696679"/>
              <a:gd name="connsiteX6" fmla="*/ 0 w 572061"/>
              <a:gd name="connsiteY6" fmla="*/ 5696679 h 5696679"/>
              <a:gd name="connsiteX7" fmla="*/ 0 w 572061"/>
              <a:gd name="connsiteY7" fmla="*/ 95345 h 5696679"/>
              <a:gd name="connsiteX8" fmla="*/ 95345 w 572061"/>
              <a:gd name="connsiteY8" fmla="*/ 0 h 569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2061" h="5696679">
                <a:moveTo>
                  <a:pt x="0" y="4747214"/>
                </a:moveTo>
                <a:lnTo>
                  <a:pt x="0" y="949465"/>
                </a:lnTo>
                <a:cubicBezTo>
                  <a:pt x="0" y="425089"/>
                  <a:pt x="4287" y="5"/>
                  <a:pt x="9575" y="5"/>
                </a:cubicBezTo>
                <a:lnTo>
                  <a:pt x="572061" y="5"/>
                </a:lnTo>
                <a:lnTo>
                  <a:pt x="572061" y="5"/>
                </a:lnTo>
                <a:lnTo>
                  <a:pt x="572061" y="5696674"/>
                </a:lnTo>
                <a:lnTo>
                  <a:pt x="572061" y="5696674"/>
                </a:lnTo>
                <a:lnTo>
                  <a:pt x="9575" y="5696674"/>
                </a:lnTo>
                <a:cubicBezTo>
                  <a:pt x="4287" y="5696674"/>
                  <a:pt x="0" y="5271590"/>
                  <a:pt x="0" y="4747214"/>
                </a:cubicBezTo>
                <a:close/>
              </a:path>
            </a:pathLst>
          </a:custGeom>
          <a:ln>
            <a:noFill/>
          </a:ln>
        </p:spPr>
        <p:style>
          <a:lnRef idx="2">
            <a:scrgbClr r="0" g="0" b="0"/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5576" tIns="151751" rIns="0" bIns="151751" numCol="1" spcCol="1270" anchor="ctr" anchorCtr="0">
            <a:noAutofit/>
          </a:bodyPr>
          <a:lstStyle/>
          <a:p>
            <a:pPr marL="114300" lvl="1" indent="0" defTabSz="622300"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kern="1200" dirty="0">
                <a:solidFill>
                  <a:srgbClr val="193079"/>
                </a:solidFill>
                <a:latin typeface="SST Arabic" panose="020B0504030504020204" pitchFamily="34" charset="-78"/>
                <a:ea typeface="+mn-ea"/>
                <a:cs typeface="SST Arabic" panose="020B0504030504020204" pitchFamily="34" charset="-78"/>
              </a:rPr>
              <a:t>n8n workflow processes symptoms and returns doctor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70788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5D11-3E56-AC89-2FE8-6929555B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093" y="3001683"/>
            <a:ext cx="8647814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197174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16826</TotalTime>
  <Words>283</Words>
  <Application>Microsoft Office PowerPoint</Application>
  <PresentationFormat>Widescreen</PresentationFormat>
  <Paragraphs>85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Calibri</vt:lpstr>
      <vt:lpstr>Calibri Light</vt:lpstr>
      <vt:lpstr>DIN Next LT Arabic</vt:lpstr>
      <vt:lpstr>DIN Next LT Arabic Medium</vt:lpstr>
      <vt:lpstr>Somar Sans SemiBold</vt:lpstr>
      <vt:lpstr>SST Arabic</vt:lpstr>
      <vt:lpstr>SST Arabic Light</vt:lpstr>
      <vt:lpstr>SST Arabic Medium</vt:lpstr>
      <vt:lpstr>Office Theme</vt:lpstr>
      <vt:lpstr>1_Office Theme</vt:lpstr>
      <vt:lpstr>2_Office Theme</vt:lpstr>
      <vt:lpstr>Title: Hayat – Unified Hospital App</vt:lpstr>
      <vt:lpstr>Problem &amp; Proposed Solution</vt:lpstr>
      <vt:lpstr>Project Objectives</vt:lpstr>
      <vt:lpstr>Morafiq </vt:lpstr>
      <vt:lpstr>Key Features</vt:lpstr>
      <vt:lpstr>AI-Integrated Healthcare Architecture</vt:lpstr>
      <vt:lpstr>System Components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Abdulaziz Alabdullatif</dc:creator>
  <cp:lastModifiedBy>Abdulaziz Alabdullatif</cp:lastModifiedBy>
  <cp:revision>2</cp:revision>
  <dcterms:created xsi:type="dcterms:W3CDTF">2025-03-20T08:52:50Z</dcterms:created>
  <dcterms:modified xsi:type="dcterms:W3CDTF">2026-04-22T15:50:44Z</dcterms:modified>
</cp:coreProperties>
</file>